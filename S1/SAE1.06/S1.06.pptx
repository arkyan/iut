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00106B-B4FE-4B1E-85A3-7BD4AF13E2CD}">
  <a:tblStyle styleId="{3200106B-B4FE-4B1E-85A3-7BD4AF13E2C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23756476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23756476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a4f30ad295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a4f30ad295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23735f75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23735f75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3735f75f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3735f75f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3735f75f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3735f75f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3735f75f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23735f75f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3735f75f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3735f75f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3735f75f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3735f75f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23c2c597a4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23c2c597a4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fr.wikipedia.org/wiki/D%C3%A9veloppeur_web" TargetMode="External"/><Relationship Id="rId4" Type="http://schemas.openxmlformats.org/officeDocument/2006/relationships/hyperlink" Target="https://www.hellowork.com/fr-fr/metiers/developpeur-web.html" TargetMode="External"/><Relationship Id="rId10" Type="http://schemas.openxmlformats.org/officeDocument/2006/relationships/hyperlink" Target="https://www.grandeecolenumerique.fr/gen_scan/tendances-de-lemploi-dans-les-metiers-du-numerique-en-france-au-3eme-trimestre-2024" TargetMode="External"/><Relationship Id="rId9" Type="http://schemas.openxmlformats.org/officeDocument/2006/relationships/hyperlink" Target="https://blog.prestataires.pro/choisir-mon-entreprise-de-developpement-web-oui-mais-comment/" TargetMode="External"/><Relationship Id="rId5" Type="http://schemas.openxmlformats.org/officeDocument/2006/relationships/hyperlink" Target="https://fr.wikipedia.org/wiki/YouTube" TargetMode="External"/><Relationship Id="rId6" Type="http://schemas.openxmlformats.org/officeDocument/2006/relationships/hyperlink" Target="https://www.reddit.com/r/aws/comments/1d2ozav/what_languages_frameworks_etc_does_amazon_use_to/?tl=fr" TargetMode="External"/><Relationship Id="rId7" Type="http://schemas.openxmlformats.org/officeDocument/2006/relationships/hyperlink" Target="https://www.aliptic.net/details-du-membre/membre/115-entreprise-n%C3%A9o-soft.html" TargetMode="External"/><Relationship Id="rId8" Type="http://schemas.openxmlformats.org/officeDocument/2006/relationships/hyperlink" Target="https://niort-tech.fr/les-acteurs-du-numerique/neo-soft-societe-en-ingenierie-et-de-conseils-en-technologi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81000" y="408550"/>
            <a:ext cx="8382000" cy="249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0"/>
              <a:t>SAE 1.06 : Découverte de l’environnement</a:t>
            </a:r>
            <a:endParaRPr sz="6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0"/>
              <a:t>économique et écologique</a:t>
            </a:r>
            <a:endParaRPr sz="6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32650" y="3079825"/>
            <a:ext cx="8330700" cy="15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fr"/>
              <a:t>Compétence 6 : Collaborer au sein d’une équipe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fr"/>
              <a:t>informatique.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fr"/>
              <a:t>Niveau 1 : Identifier ses aptitudes pour travailler dans une équipe.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fr"/>
              <a:t>Apprentissages critiques 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fr"/>
              <a:t>AC1 : Appréhender l’écosystème numérique.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fr"/>
              <a:t>AC4 : Acquérir les compétences interpersonnelles pour travailler 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fr"/>
              <a:t>équipe.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Sommaire :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I : Présentation du métier de </a:t>
            </a:r>
            <a:r>
              <a:rPr lang="fr"/>
              <a:t>développeur</a:t>
            </a:r>
            <a:r>
              <a:rPr lang="fr"/>
              <a:t> web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II : Compétences spécifiques demandées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III : Synthèse questions de l’interview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IV : Présentation de l’entreprise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V : Offres d’emplois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VI : Comparatif Paris/Province</a:t>
            </a:r>
            <a:endParaRPr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 : Présentation du métier de développeur web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1918950" y="1189550"/>
            <a:ext cx="5306100" cy="31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Métier essentiel pour entreprise aujourd’hui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Langages principaux : </a:t>
            </a:r>
            <a:r>
              <a:rPr lang="fr">
                <a:solidFill>
                  <a:srgbClr val="FC4C1C"/>
                </a:solidFill>
              </a:rPr>
              <a:t>HTML</a:t>
            </a:r>
            <a:r>
              <a:rPr lang="fr">
                <a:solidFill>
                  <a:schemeClr val="dk1"/>
                </a:solidFill>
              </a:rPr>
              <a:t>, </a:t>
            </a:r>
            <a:r>
              <a:rPr lang="fr">
                <a:solidFill>
                  <a:srgbClr val="0000FF"/>
                </a:solidFill>
              </a:rPr>
              <a:t>CSS</a:t>
            </a:r>
            <a:r>
              <a:rPr lang="fr">
                <a:solidFill>
                  <a:schemeClr val="dk1"/>
                </a:solidFill>
              </a:rPr>
              <a:t>, </a:t>
            </a:r>
            <a:r>
              <a:rPr lang="fr">
                <a:solidFill>
                  <a:srgbClr val="F8A923"/>
                </a:solidFill>
              </a:rPr>
              <a:t>JS</a:t>
            </a:r>
            <a:r>
              <a:rPr lang="fr">
                <a:solidFill>
                  <a:schemeClr val="dk1"/>
                </a:solidFill>
              </a:rPr>
              <a:t>, </a:t>
            </a:r>
            <a:r>
              <a:rPr lang="fr">
                <a:solidFill>
                  <a:srgbClr val="4285F4"/>
                </a:solidFill>
              </a:rPr>
              <a:t>PHP</a:t>
            </a:r>
            <a:r>
              <a:rPr lang="fr">
                <a:solidFill>
                  <a:schemeClr val="dk1"/>
                </a:solidFill>
              </a:rPr>
              <a:t>, </a:t>
            </a:r>
            <a:r>
              <a:rPr lang="fr">
                <a:solidFill>
                  <a:srgbClr val="04516F"/>
                </a:solidFill>
              </a:rPr>
              <a:t>SQL</a:t>
            </a:r>
            <a:endParaRPr>
              <a:solidFill>
                <a:srgbClr val="04516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Besoin : Diplôme en informatique ou autre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E</a:t>
            </a:r>
            <a:r>
              <a:rPr lang="fr">
                <a:solidFill>
                  <a:schemeClr val="dk1"/>
                </a:solidFill>
              </a:rPr>
              <a:t>nvironnements de travail </a:t>
            </a:r>
            <a:r>
              <a:rPr lang="fr">
                <a:solidFill>
                  <a:schemeClr val="dk1"/>
                </a:solidFill>
              </a:rPr>
              <a:t>variés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Possibilité de télétravail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1"/>
                </a:solidFill>
              </a:rPr>
              <a:t>Métier très demandé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5050" y="274375"/>
            <a:ext cx="1527800" cy="152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4">
            <a:alphaModFix/>
          </a:blip>
          <a:srcRect b="0" l="38834" r="0" t="0"/>
          <a:stretch/>
        </p:blipFill>
        <p:spPr>
          <a:xfrm>
            <a:off x="213500" y="3972500"/>
            <a:ext cx="2151174" cy="9633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1754" y="1551874"/>
            <a:ext cx="954399" cy="849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 rotWithShape="1">
          <a:blip r:embed="rId6">
            <a:alphaModFix/>
          </a:blip>
          <a:srcRect b="29950" l="9924" r="11619" t="26095"/>
          <a:stretch/>
        </p:blipFill>
        <p:spPr>
          <a:xfrm>
            <a:off x="2660700" y="4150339"/>
            <a:ext cx="3653801" cy="6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3550" y="569813"/>
            <a:ext cx="285750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9E9E9E"/>
                </a:solidFill>
              </a:rPr>
              <a:t>II : Compétences spécifiques demandées</a:t>
            </a:r>
            <a:endParaRPr>
              <a:solidFill>
                <a:srgbClr val="9E9E9E"/>
              </a:solidFill>
            </a:endParaRPr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-"/>
            </a:pPr>
            <a:r>
              <a:rPr lang="fr">
                <a:solidFill>
                  <a:srgbClr val="9E9E9E"/>
                </a:solidFill>
              </a:rPr>
              <a:t>Maîtrise des langages de programmation</a:t>
            </a:r>
            <a:endParaRPr>
              <a:solidFill>
                <a:srgbClr val="9E9E9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-"/>
            </a:pPr>
            <a:r>
              <a:rPr lang="fr">
                <a:solidFill>
                  <a:srgbClr val="9E9E9E"/>
                </a:solidFill>
              </a:rPr>
              <a:t>Frameworks et bibliothèques</a:t>
            </a:r>
            <a:endParaRPr>
              <a:solidFill>
                <a:srgbClr val="9E9E9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-"/>
            </a:pPr>
            <a:r>
              <a:rPr lang="fr">
                <a:solidFill>
                  <a:srgbClr val="9E9E9E"/>
                </a:solidFill>
              </a:rPr>
              <a:t>Gestion des bases de données</a:t>
            </a:r>
            <a:endParaRPr>
              <a:solidFill>
                <a:srgbClr val="9E9E9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-"/>
            </a:pPr>
            <a:r>
              <a:rPr lang="fr">
                <a:solidFill>
                  <a:srgbClr val="9E9E9E"/>
                </a:solidFill>
              </a:rPr>
              <a:t>Versioning et collaboration</a:t>
            </a:r>
            <a:endParaRPr>
              <a:solidFill>
                <a:srgbClr val="9E9E9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-"/>
            </a:pPr>
            <a:r>
              <a:rPr lang="fr">
                <a:solidFill>
                  <a:srgbClr val="9E9E9E"/>
                </a:solidFill>
              </a:rPr>
              <a:t>Responsive Design et Accessibilité</a:t>
            </a:r>
            <a:endParaRPr>
              <a:solidFill>
                <a:srgbClr val="9E9E9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-"/>
            </a:pPr>
            <a:r>
              <a:rPr lang="fr">
                <a:solidFill>
                  <a:srgbClr val="9E9E9E"/>
                </a:solidFill>
              </a:rPr>
              <a:t>Sécurité Web</a:t>
            </a:r>
            <a:endParaRPr>
              <a:solidFill>
                <a:srgbClr val="9E9E9E"/>
              </a:solidFill>
            </a:endParaRPr>
          </a:p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 rotWithShape="1">
          <a:blip r:embed="rId4">
            <a:alphaModFix/>
          </a:blip>
          <a:srcRect b="0" l="0" r="0" t="5624"/>
          <a:stretch/>
        </p:blipFill>
        <p:spPr>
          <a:xfrm>
            <a:off x="6044175" y="1089450"/>
            <a:ext cx="2840799" cy="181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700" y="3350550"/>
            <a:ext cx="2620775" cy="170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52746" y="3105346"/>
            <a:ext cx="1423650" cy="14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01900" y="3239550"/>
            <a:ext cx="2542277" cy="142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III : Synthèse questions de l’interview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Guillaume LABUSSIERE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Développeur web full stack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27 ans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34k € par 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Néo-Soft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3IL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Rigueur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Patience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Logique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Cohésion d’équipe</a:t>
            </a:r>
            <a:r>
              <a:rPr lang="fr"/>
              <a:t> </a:t>
            </a:r>
            <a:endParaRPr/>
          </a:p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0475" y="838050"/>
            <a:ext cx="4130675" cy="413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IV : Présentation de l’entreprise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2285850" y="1997375"/>
            <a:ext cx="4572300" cy="14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Origine : Renne en 2005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Basée dans plusieurs villes dont Limoges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1"/>
                </a:solidFill>
              </a:rPr>
              <a:t>1800 collaborateurs totaux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9525" y="190475"/>
            <a:ext cx="2762772" cy="7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700" y="4204225"/>
            <a:ext cx="2762772" cy="7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 : Offres </a:t>
            </a:r>
            <a:r>
              <a:rPr lang="fr"/>
              <a:t>d'emplois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419025" y="1152475"/>
            <a:ext cx="8413200" cy="36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-323505" lvl="0" marL="457200" rtl="0" algn="l">
              <a:spcBef>
                <a:spcPts val="0"/>
              </a:spcBef>
              <a:spcAft>
                <a:spcPts val="0"/>
              </a:spcAft>
              <a:buSzPct val="123053"/>
              <a:buChar char="-"/>
            </a:pPr>
            <a:r>
              <a:rPr b="1" lang="fr" sz="3036">
                <a:solidFill>
                  <a:schemeClr val="dk1"/>
                </a:solidFill>
              </a:rPr>
              <a:t>Développeur Front-End</a:t>
            </a:r>
            <a:endParaRPr b="1" sz="3036">
              <a:solidFill>
                <a:schemeClr val="dk1"/>
              </a:solidFill>
            </a:endParaRPr>
          </a:p>
          <a:p>
            <a:pPr indent="-323505" lvl="0" marL="457200" rtl="0" algn="l">
              <a:spcBef>
                <a:spcPts val="0"/>
              </a:spcBef>
              <a:spcAft>
                <a:spcPts val="0"/>
              </a:spcAft>
              <a:buSzPct val="123053"/>
              <a:buChar char="-"/>
            </a:pPr>
            <a:r>
              <a:rPr b="1" lang="fr" sz="3036">
                <a:solidFill>
                  <a:schemeClr val="dk1"/>
                </a:solidFill>
              </a:rPr>
              <a:t>Intégrateur Web</a:t>
            </a:r>
            <a:endParaRPr b="1" sz="3036">
              <a:solidFill>
                <a:schemeClr val="dk1"/>
              </a:solidFill>
            </a:endParaRPr>
          </a:p>
          <a:p>
            <a:pPr indent="-323505" lvl="0" marL="457200" rtl="0" algn="l">
              <a:spcBef>
                <a:spcPts val="0"/>
              </a:spcBef>
              <a:spcAft>
                <a:spcPts val="0"/>
              </a:spcAft>
              <a:buSzPct val="123053"/>
              <a:buChar char="-"/>
            </a:pPr>
            <a:r>
              <a:rPr b="1" lang="fr" sz="3036">
                <a:solidFill>
                  <a:schemeClr val="dk1"/>
                </a:solidFill>
              </a:rPr>
              <a:t>Développeur JavaScript</a:t>
            </a:r>
            <a:endParaRPr b="1" sz="3036">
              <a:solidFill>
                <a:schemeClr val="dk1"/>
              </a:solidFill>
            </a:endParaRPr>
          </a:p>
          <a:p>
            <a:pPr indent="-323505" lvl="0" marL="457200" rtl="0" algn="l">
              <a:spcBef>
                <a:spcPts val="0"/>
              </a:spcBef>
              <a:spcAft>
                <a:spcPts val="0"/>
              </a:spcAft>
              <a:buSzPct val="123053"/>
              <a:buChar char="-"/>
            </a:pPr>
            <a:r>
              <a:rPr b="1" lang="fr" sz="3036">
                <a:solidFill>
                  <a:schemeClr val="dk1"/>
                </a:solidFill>
              </a:rPr>
              <a:t>Développeur Back-End</a:t>
            </a:r>
            <a:endParaRPr b="1" sz="3036">
              <a:solidFill>
                <a:schemeClr val="dk1"/>
              </a:solidFill>
            </a:endParaRPr>
          </a:p>
          <a:p>
            <a:pPr indent="-323505" lvl="0" marL="457200" rtl="0" algn="l">
              <a:spcBef>
                <a:spcPts val="0"/>
              </a:spcBef>
              <a:spcAft>
                <a:spcPts val="0"/>
              </a:spcAft>
              <a:buSzPct val="123053"/>
              <a:buChar char="-"/>
            </a:pPr>
            <a:r>
              <a:rPr b="1" lang="fr" sz="3036">
                <a:solidFill>
                  <a:schemeClr val="dk1"/>
                </a:solidFill>
              </a:rPr>
              <a:t>Développeur PHP (Laravel, Symfony)</a:t>
            </a:r>
            <a:endParaRPr b="1" sz="3036">
              <a:solidFill>
                <a:schemeClr val="dk1"/>
              </a:solidFill>
            </a:endParaRPr>
          </a:p>
          <a:p>
            <a:pPr indent="-323505" lvl="0" marL="457200" rtl="0" algn="l">
              <a:spcBef>
                <a:spcPts val="0"/>
              </a:spcBef>
              <a:spcAft>
                <a:spcPts val="0"/>
              </a:spcAft>
              <a:buSzPct val="123053"/>
              <a:buChar char="-"/>
            </a:pPr>
            <a:r>
              <a:rPr b="1" lang="fr" sz="3036">
                <a:solidFill>
                  <a:schemeClr val="dk1"/>
                </a:solidFill>
              </a:rPr>
              <a:t>Développeur Python (Django, Flask)</a:t>
            </a:r>
            <a:endParaRPr b="1" sz="3036">
              <a:solidFill>
                <a:schemeClr val="dk1"/>
              </a:solidFill>
            </a:endParaRPr>
          </a:p>
          <a:p>
            <a:pPr indent="-323505" lvl="0" marL="457200" rtl="0" algn="l">
              <a:spcBef>
                <a:spcPts val="0"/>
              </a:spcBef>
              <a:spcAft>
                <a:spcPts val="0"/>
              </a:spcAft>
              <a:buSzPct val="123053"/>
              <a:buChar char="-"/>
            </a:pPr>
            <a:r>
              <a:rPr b="1" lang="fr" sz="3036">
                <a:solidFill>
                  <a:schemeClr val="dk1"/>
                </a:solidFill>
              </a:rPr>
              <a:t>Développeur Java (Spring Boot)</a:t>
            </a:r>
            <a:endParaRPr b="1" sz="3036">
              <a:solidFill>
                <a:schemeClr val="dk1"/>
              </a:solidFill>
            </a:endParaRPr>
          </a:p>
          <a:p>
            <a:pPr indent="-323505" lvl="0" marL="457200" rtl="0" algn="l">
              <a:spcBef>
                <a:spcPts val="0"/>
              </a:spcBef>
              <a:spcAft>
                <a:spcPts val="0"/>
              </a:spcAft>
              <a:buSzPct val="123053"/>
              <a:buChar char="-"/>
            </a:pPr>
            <a:r>
              <a:rPr b="1" lang="fr" sz="3036">
                <a:solidFill>
                  <a:schemeClr val="dk1"/>
                </a:solidFill>
              </a:rPr>
              <a:t>Développeur API</a:t>
            </a:r>
            <a:endParaRPr b="1" sz="3036">
              <a:solidFill>
                <a:schemeClr val="dk1"/>
              </a:solidFill>
            </a:endParaRPr>
          </a:p>
          <a:p>
            <a:pPr indent="-323505" lvl="0" marL="457200" rtl="0" algn="l">
              <a:spcBef>
                <a:spcPts val="0"/>
              </a:spcBef>
              <a:spcAft>
                <a:spcPts val="0"/>
              </a:spcAft>
              <a:buSzPct val="123053"/>
              <a:buChar char="-"/>
            </a:pPr>
            <a:r>
              <a:rPr b="1" lang="fr" sz="3036">
                <a:solidFill>
                  <a:schemeClr val="dk1"/>
                </a:solidFill>
              </a:rPr>
              <a:t>Ingénieur Base de Données</a:t>
            </a:r>
            <a:endParaRPr b="1" sz="3036">
              <a:solidFill>
                <a:schemeClr val="dk1"/>
              </a:solidFill>
            </a:endParaRPr>
          </a:p>
          <a:p>
            <a:pPr indent="-323505" lvl="0" marL="457200" rtl="0" algn="l">
              <a:spcBef>
                <a:spcPts val="0"/>
              </a:spcBef>
              <a:spcAft>
                <a:spcPts val="0"/>
              </a:spcAft>
              <a:buSzPct val="123053"/>
              <a:buChar char="-"/>
            </a:pPr>
            <a:r>
              <a:rPr b="1" lang="fr" sz="3036">
                <a:solidFill>
                  <a:schemeClr val="dk1"/>
                </a:solidFill>
              </a:rPr>
              <a:t>Développeur Cloud (AWS, Azure, Google Cloud)</a:t>
            </a:r>
            <a:endParaRPr b="1" sz="3036">
              <a:solidFill>
                <a:schemeClr val="dk1"/>
              </a:solidFill>
            </a:endParaRPr>
          </a:p>
          <a:p>
            <a:pPr indent="-323505" lvl="0" marL="457200" rtl="0" algn="l">
              <a:spcBef>
                <a:spcPts val="0"/>
              </a:spcBef>
              <a:spcAft>
                <a:spcPts val="0"/>
              </a:spcAft>
              <a:buSzPct val="123053"/>
              <a:buChar char="-"/>
            </a:pPr>
            <a:r>
              <a:rPr b="1" lang="fr" sz="3036">
                <a:solidFill>
                  <a:schemeClr val="dk1"/>
                </a:solidFill>
              </a:rPr>
              <a:t>Chef de Projet Web</a:t>
            </a:r>
            <a:endParaRPr b="1" sz="3036">
              <a:solidFill>
                <a:schemeClr val="dk1"/>
              </a:solidFill>
            </a:endParaRPr>
          </a:p>
          <a:p>
            <a:pPr indent="-323505" lvl="0" marL="457200" rtl="0" algn="l">
              <a:spcBef>
                <a:spcPts val="0"/>
              </a:spcBef>
              <a:spcAft>
                <a:spcPts val="0"/>
              </a:spcAft>
              <a:buSzPct val="123053"/>
              <a:buChar char="-"/>
            </a:pPr>
            <a:r>
              <a:rPr b="1" lang="fr" sz="3036">
                <a:solidFill>
                  <a:schemeClr val="dk1"/>
                </a:solidFill>
              </a:rPr>
              <a:t>Ingénieur DevOps</a:t>
            </a:r>
            <a:endParaRPr b="1" sz="3036">
              <a:solidFill>
                <a:schemeClr val="dk1"/>
              </a:solidFill>
            </a:endParaRPr>
          </a:p>
          <a:p>
            <a:pPr indent="-323505" lvl="0" marL="457200" rtl="0" algn="l">
              <a:spcBef>
                <a:spcPts val="0"/>
              </a:spcBef>
              <a:spcAft>
                <a:spcPts val="0"/>
              </a:spcAft>
              <a:buSzPct val="123053"/>
              <a:buChar char="-"/>
            </a:pPr>
            <a:r>
              <a:rPr b="1" lang="fr" sz="3036">
                <a:solidFill>
                  <a:schemeClr val="dk1"/>
                </a:solidFill>
              </a:rPr>
              <a:t>Ingénieur CI/CD</a:t>
            </a:r>
            <a:endParaRPr b="1" sz="3036">
              <a:solidFill>
                <a:schemeClr val="dk1"/>
              </a:solidFill>
            </a:endParaRPr>
          </a:p>
          <a:p>
            <a:pPr indent="-27432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5316" y="162210"/>
            <a:ext cx="4331209" cy="3282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VI : Comparatif Paris/Province </a:t>
            </a:r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Pourcentage de la répartition des emplois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Chiffre d’affaire centralisé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Ambiance de travail</a:t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11720" l="4250" r="-4250" t="-11720"/>
          <a:stretch/>
        </p:blipFill>
        <p:spPr>
          <a:xfrm>
            <a:off x="81919" y="1727100"/>
            <a:ext cx="4879403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 rotWithShape="1">
          <a:blip r:embed="rId4">
            <a:alphaModFix/>
          </a:blip>
          <a:srcRect b="11317" l="0" r="0" t="66404"/>
          <a:stretch/>
        </p:blipFill>
        <p:spPr>
          <a:xfrm>
            <a:off x="4808275" y="24225"/>
            <a:ext cx="4335726" cy="10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Sources : </a:t>
            </a:r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10139200" y="1182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graphicFrame>
        <p:nvGraphicFramePr>
          <p:cNvPr id="128" name="Google Shape;128;p21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{3200106B-B4FE-4B1E-85A3-7BD4AF13E2CD}</a:tableStyleId>
              </a:tblPr>
              <a:tblGrid>
                <a:gridCol w="1490875"/>
                <a:gridCol w="6029075"/>
              </a:tblGrid>
              <a:tr h="4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Métier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 u="sng">
                          <a:solidFill>
                            <a:schemeClr val="hlink"/>
                          </a:solidFill>
                          <a:hlinkClick r:id="rId3"/>
                        </a:rPr>
                        <a:t>https://fr.wikipedia.org/wiki/D%C3%A9veloppeur_web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 u="sng">
                          <a:solidFill>
                            <a:schemeClr val="hlink"/>
                          </a:solidFill>
                          <a:hlinkClick r:id="rId4"/>
                        </a:rPr>
                        <a:t>https://www.hellowork.com/fr-fr/metiers/developpeur-web.html</a:t>
                      </a:r>
                      <a:r>
                        <a:rPr lang="fr" sz="900"/>
                        <a:t> 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Compétences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 u="sng">
                          <a:solidFill>
                            <a:schemeClr val="hlink"/>
                          </a:solidFill>
                          <a:hlinkClick r:id="rId5"/>
                        </a:rPr>
                        <a:t>https://fr.wikipedia.org/wiki/YouTube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 u="sng">
                          <a:solidFill>
                            <a:schemeClr val="hlink"/>
                          </a:solidFill>
                          <a:hlinkClick r:id="rId6"/>
                        </a:rPr>
                        <a:t>https://www.reddit.com/r/aws/comments/1d2ozav/what_languages_frameworks_etc_does_amazon_use_to/?tl=fr</a:t>
                      </a:r>
                      <a:r>
                        <a:rPr lang="fr" sz="900">
                          <a:solidFill>
                            <a:schemeClr val="dk2"/>
                          </a:solidFill>
                        </a:rPr>
                        <a:t> 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Interview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/>
                        <a:t>Interview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Entreprise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 u="sng">
                          <a:solidFill>
                            <a:srgbClr val="1155CC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https://www.aliptic.net/details-du-membre/membre/115-entreprise-n%C3%A9o-soft.html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 u="sng">
                          <a:solidFill>
                            <a:srgbClr val="1155CC"/>
                          </a:solid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https://niort-tech.fr/les-acteurs-du-numerique/neo-soft-societe-en-ingenierie-et-de-conseils-en-technologie/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Offres d’emploi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/>
                        <a:t>Indeed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/>
                        <a:t>https://fr.indeed.com › q-développe...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/>
                        <a:t>Développeur Web, Nouvelle-Aquitaine : plus de 300 offres d'emploi …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Paris/Provinces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900" u="sng">
                          <a:solidFill>
                            <a:srgbClr val="1155CC"/>
                          </a:solidFill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https://blog.prestataires.pro/choisir-mon-entreprise-de-developpement-web-oui-mais-comment/</a:t>
                      </a:r>
                      <a:endParaRPr/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800" u="sng">
                          <a:solidFill>
                            <a:schemeClr val="hlink"/>
                          </a:solidFill>
                          <a:hlinkClick r:id="rId10"/>
                        </a:rPr>
                        <a:t>https://www.grandeecolenumerique.fr/gen_scan/tendances-de-lemploi-dans-les-metiers-du-numerique-en-france-au-3eme-trimestre-2024</a:t>
                      </a:r>
                      <a:r>
                        <a:rPr lang="fr" sz="800"/>
                        <a:t> 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9" name="Google Shape;129;p21"/>
          <p:cNvSpPr txBox="1"/>
          <p:nvPr/>
        </p:nvSpPr>
        <p:spPr>
          <a:xfrm>
            <a:off x="6074775" y="613625"/>
            <a:ext cx="54849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