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3"/>
  </p:sldMasterIdLst>
  <p:notesMasterIdLst>
    <p:notesMasterId r:id="rId9"/>
  </p:notesMasterIdLst>
  <p:handoutMasterIdLst>
    <p:handoutMasterId r:id="rId10"/>
  </p:handoutMasterIdLst>
  <p:sldIdLst>
    <p:sldId id="538" r:id="rId4"/>
    <p:sldId id="541" r:id="rId5"/>
    <p:sldId id="544" r:id="rId6"/>
    <p:sldId id="547" r:id="rId7"/>
    <p:sldId id="552" r:id="rId8"/>
  </p:sldIdLst>
  <p:sldSz cx="9144000" cy="5143500" type="screen16x9"/>
  <p:notesSz cx="7102475" cy="10233025"/>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CE1"/>
    <a:srgbClr val="A17DA0"/>
    <a:srgbClr val="77297D"/>
    <a:srgbClr val="660066"/>
    <a:srgbClr val="0A00D6"/>
    <a:srgbClr val="2ED600"/>
    <a:srgbClr val="008FD6"/>
    <a:srgbClr val="191919"/>
    <a:srgbClr val="006699"/>
    <a:srgbClr val="87C8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41" autoAdjust="0"/>
    <p:restoredTop sz="86463" autoAdjust="0"/>
  </p:normalViewPr>
  <p:slideViewPr>
    <p:cSldViewPr>
      <p:cViewPr varScale="1">
        <p:scale>
          <a:sx n="109" d="100"/>
          <a:sy n="109" d="100"/>
        </p:scale>
        <p:origin x="883" y="101"/>
      </p:cViewPr>
      <p:guideLst>
        <p:guide orient="horz" pos="1620"/>
        <p:guide pos="2880"/>
      </p:guideLst>
    </p:cSldViewPr>
  </p:slideViewPr>
  <p:outlineViewPr>
    <p:cViewPr>
      <p:scale>
        <a:sx n="33" d="100"/>
        <a:sy n="33" d="100"/>
      </p:scale>
      <p:origin x="264"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heme" Target="theme/theme1.xml"/><Relationship Id="rId3" Type="http://schemas.openxmlformats.org/officeDocument/2006/relationships/slideMaster" Target="slideMasters/slideMaster1.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0"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1175"/>
          </a:xfrm>
          <a:prstGeom prst="rect">
            <a:avLst/>
          </a:prstGeom>
        </p:spPr>
        <p:txBody>
          <a:bodyPr vert="horz" lIns="99048" tIns="49524" rIns="99048" bIns="49524" rtlCol="0"/>
          <a:lstStyle>
            <a:lvl1pPr algn="l" fontAlgn="auto">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sz="quarter" idx="1"/>
          </p:nvPr>
        </p:nvSpPr>
        <p:spPr>
          <a:xfrm>
            <a:off x="4022725" y="0"/>
            <a:ext cx="3078163" cy="511175"/>
          </a:xfrm>
          <a:prstGeom prst="rect">
            <a:avLst/>
          </a:prstGeom>
        </p:spPr>
        <p:txBody>
          <a:bodyPr vert="horz" lIns="99048" tIns="49524" rIns="99048" bIns="49524" rtlCol="0"/>
          <a:lstStyle>
            <a:lvl1pPr algn="r" fontAlgn="auto">
              <a:spcBef>
                <a:spcPts val="0"/>
              </a:spcBef>
              <a:spcAft>
                <a:spcPts val="0"/>
              </a:spcAft>
              <a:defRPr sz="1300">
                <a:latin typeface="+mn-lt"/>
                <a:cs typeface="+mn-cs"/>
              </a:defRPr>
            </a:lvl1pPr>
          </a:lstStyle>
          <a:p>
            <a:pPr>
              <a:defRPr/>
            </a:pPr>
            <a:fld id="{18BCF5B6-AE71-41E1-901F-2E68665C2001}" type="datetimeFigureOut">
              <a:rPr lang="en-US"/>
              <a:pPr>
                <a:defRPr/>
              </a:pPr>
              <a:t>3/20/2025</a:t>
            </a:fld>
            <a:endParaRPr lang="en-US"/>
          </a:p>
        </p:txBody>
      </p:sp>
      <p:sp>
        <p:nvSpPr>
          <p:cNvPr id="4" name="Footer Placeholder 3"/>
          <p:cNvSpPr>
            <a:spLocks noGrp="1"/>
          </p:cNvSpPr>
          <p:nvPr>
            <p:ph type="ftr" sz="quarter" idx="2"/>
          </p:nvPr>
        </p:nvSpPr>
        <p:spPr>
          <a:xfrm>
            <a:off x="0" y="9720263"/>
            <a:ext cx="3078163" cy="511175"/>
          </a:xfrm>
          <a:prstGeom prst="rect">
            <a:avLst/>
          </a:prstGeom>
        </p:spPr>
        <p:txBody>
          <a:bodyPr vert="horz" lIns="99048" tIns="49524" rIns="99048" bIns="49524" rtlCol="0" anchor="b"/>
          <a:lstStyle>
            <a:lvl1pPr algn="l" fontAlgn="auto">
              <a:spcBef>
                <a:spcPts val="0"/>
              </a:spcBef>
              <a:spcAft>
                <a:spcPts val="0"/>
              </a:spcAft>
              <a:defRPr sz="13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4022725" y="9720263"/>
            <a:ext cx="3078163" cy="511175"/>
          </a:xfrm>
          <a:prstGeom prst="rect">
            <a:avLst/>
          </a:prstGeom>
        </p:spPr>
        <p:txBody>
          <a:bodyPr vert="horz" lIns="99048" tIns="49524" rIns="99048" bIns="49524" rtlCol="0" anchor="b"/>
          <a:lstStyle>
            <a:lvl1pPr algn="r" fontAlgn="auto">
              <a:spcBef>
                <a:spcPts val="0"/>
              </a:spcBef>
              <a:spcAft>
                <a:spcPts val="0"/>
              </a:spcAft>
              <a:defRPr sz="1300">
                <a:latin typeface="+mn-lt"/>
                <a:cs typeface="+mn-cs"/>
              </a:defRPr>
            </a:lvl1pPr>
          </a:lstStyle>
          <a:p>
            <a:pPr>
              <a:defRPr/>
            </a:pPr>
            <a:fld id="{E4893296-DD6F-4CE8-BAF4-AD3EAFC958B9}" type="slidenum">
              <a:rPr lang="en-US"/>
              <a:pPr>
                <a:defRPr/>
              </a:pPr>
              <a:t>‹N°›</a:t>
            </a:fld>
            <a:endParaRPr lang="en-US"/>
          </a:p>
        </p:txBody>
      </p:sp>
    </p:spTree>
    <p:extLst>
      <p:ext uri="{BB962C8B-B14F-4D97-AF65-F5344CB8AC3E}">
        <p14:creationId xmlns:p14="http://schemas.microsoft.com/office/powerpoint/2010/main" val="26510201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1175"/>
          </a:xfrm>
          <a:prstGeom prst="rect">
            <a:avLst/>
          </a:prstGeom>
        </p:spPr>
        <p:txBody>
          <a:bodyPr vert="horz" lIns="99048" tIns="49524" rIns="99048" bIns="49524" rtlCol="0"/>
          <a:lstStyle>
            <a:lvl1pPr algn="l" fontAlgn="auto">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idx="1"/>
          </p:nvPr>
        </p:nvSpPr>
        <p:spPr>
          <a:xfrm>
            <a:off x="4022725" y="0"/>
            <a:ext cx="3078163" cy="511175"/>
          </a:xfrm>
          <a:prstGeom prst="rect">
            <a:avLst/>
          </a:prstGeom>
        </p:spPr>
        <p:txBody>
          <a:bodyPr vert="horz" lIns="99048" tIns="49524" rIns="99048" bIns="49524" rtlCol="0"/>
          <a:lstStyle>
            <a:lvl1pPr algn="r" fontAlgn="auto">
              <a:spcBef>
                <a:spcPts val="0"/>
              </a:spcBef>
              <a:spcAft>
                <a:spcPts val="0"/>
              </a:spcAft>
              <a:defRPr sz="1300">
                <a:latin typeface="+mn-lt"/>
                <a:cs typeface="+mn-cs"/>
              </a:defRPr>
            </a:lvl1pPr>
          </a:lstStyle>
          <a:p>
            <a:pPr>
              <a:defRPr/>
            </a:pPr>
            <a:fld id="{39A7D055-DD22-4534-8662-3B7E59A914AC}" type="datetimeFigureOut">
              <a:rPr lang="en-US"/>
              <a:pPr>
                <a:defRPr/>
              </a:pPr>
              <a:t>3/20/2025</a:t>
            </a:fld>
            <a:endParaRPr lang="en-US"/>
          </a:p>
        </p:txBody>
      </p:sp>
      <p:sp>
        <p:nvSpPr>
          <p:cNvPr id="4" name="Slide Image Placeholder 3"/>
          <p:cNvSpPr>
            <a:spLocks noGrp="1" noRot="1" noChangeAspect="1"/>
          </p:cNvSpPr>
          <p:nvPr>
            <p:ph type="sldImg" idx="2"/>
          </p:nvPr>
        </p:nvSpPr>
        <p:spPr>
          <a:xfrm>
            <a:off x="141288" y="768350"/>
            <a:ext cx="6821487" cy="3836988"/>
          </a:xfrm>
          <a:prstGeom prst="rect">
            <a:avLst/>
          </a:prstGeom>
          <a:noFill/>
          <a:ln w="12700">
            <a:solidFill>
              <a:prstClr val="black"/>
            </a:solidFill>
          </a:ln>
        </p:spPr>
        <p:txBody>
          <a:bodyPr vert="horz" lIns="99048" tIns="49524" rIns="99048" bIns="49524" rtlCol="0" anchor="ctr"/>
          <a:lstStyle/>
          <a:p>
            <a:pPr lvl="0"/>
            <a:endParaRPr lang="en-US" noProof="0"/>
          </a:p>
        </p:txBody>
      </p:sp>
      <p:sp>
        <p:nvSpPr>
          <p:cNvPr id="5" name="Notes Placeholder 4"/>
          <p:cNvSpPr>
            <a:spLocks noGrp="1"/>
          </p:cNvSpPr>
          <p:nvPr>
            <p:ph type="body" sz="quarter" idx="3"/>
          </p:nvPr>
        </p:nvSpPr>
        <p:spPr>
          <a:xfrm>
            <a:off x="709613" y="4860925"/>
            <a:ext cx="5683250" cy="4603750"/>
          </a:xfrm>
          <a:prstGeom prst="rect">
            <a:avLst/>
          </a:prstGeom>
        </p:spPr>
        <p:txBody>
          <a:bodyPr vert="horz" lIns="99048" tIns="49524" rIns="99048" bIns="49524"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720263"/>
            <a:ext cx="3078163" cy="511175"/>
          </a:xfrm>
          <a:prstGeom prst="rect">
            <a:avLst/>
          </a:prstGeom>
        </p:spPr>
        <p:txBody>
          <a:bodyPr vert="horz" lIns="99048" tIns="49524" rIns="99048" bIns="49524" rtlCol="0" anchor="b"/>
          <a:lstStyle>
            <a:lvl1pPr algn="l" fontAlgn="auto">
              <a:spcBef>
                <a:spcPts val="0"/>
              </a:spcBef>
              <a:spcAft>
                <a:spcPts val="0"/>
              </a:spcAft>
              <a:defRPr sz="13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4022725" y="9720263"/>
            <a:ext cx="3078163" cy="511175"/>
          </a:xfrm>
          <a:prstGeom prst="rect">
            <a:avLst/>
          </a:prstGeom>
        </p:spPr>
        <p:txBody>
          <a:bodyPr vert="horz" lIns="99048" tIns="49524" rIns="99048" bIns="49524" rtlCol="0" anchor="b"/>
          <a:lstStyle>
            <a:lvl1pPr algn="r" fontAlgn="auto">
              <a:spcBef>
                <a:spcPts val="0"/>
              </a:spcBef>
              <a:spcAft>
                <a:spcPts val="0"/>
              </a:spcAft>
              <a:defRPr sz="1300">
                <a:latin typeface="+mn-lt"/>
                <a:cs typeface="+mn-cs"/>
              </a:defRPr>
            </a:lvl1pPr>
          </a:lstStyle>
          <a:p>
            <a:pPr>
              <a:defRPr/>
            </a:pPr>
            <a:fld id="{6494CD7C-9042-4078-875B-2B91EA7862C9}" type="slidenum">
              <a:rPr lang="en-US"/>
              <a:pPr>
                <a:defRPr/>
              </a:pPr>
              <a:t>‹N°›</a:t>
            </a:fld>
            <a:endParaRPr lang="en-US"/>
          </a:p>
        </p:txBody>
      </p:sp>
    </p:spTree>
    <p:extLst>
      <p:ext uri="{BB962C8B-B14F-4D97-AF65-F5344CB8AC3E}">
        <p14:creationId xmlns:p14="http://schemas.microsoft.com/office/powerpoint/2010/main" val="163213004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6494CD7C-9042-4078-875B-2B91EA7862C9}" type="slidenum">
              <a:rPr lang="en-US" smtClean="0"/>
              <a:pPr>
                <a:defRPr/>
              </a:pPr>
              <a:t>4</a:t>
            </a:fld>
            <a:endParaRPr lang="en-US"/>
          </a:p>
        </p:txBody>
      </p:sp>
    </p:spTree>
    <p:extLst>
      <p:ext uri="{BB962C8B-B14F-4D97-AF65-F5344CB8AC3E}">
        <p14:creationId xmlns:p14="http://schemas.microsoft.com/office/powerpoint/2010/main" val="791299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365522"/>
          </a:xfrm>
        </p:spPr>
        <p:txBody>
          <a:bodyPr>
            <a:noAutofit/>
          </a:bodyPr>
          <a:lstStyle>
            <a:lvl1pPr algn="l">
              <a:defRPr sz="4200">
                <a:latin typeface="Trebuchet MS" pitchFamily="34" charset="0"/>
              </a:defRPr>
            </a:lvl1pPr>
          </a:lstStyle>
          <a:p>
            <a:r>
              <a:rPr lang="en-US" dirty="0"/>
              <a:t>Click to edit Master title style</a:t>
            </a:r>
          </a:p>
        </p:txBody>
      </p:sp>
      <p:sp>
        <p:nvSpPr>
          <p:cNvPr id="3" name="Content Placeholder 2"/>
          <p:cNvSpPr>
            <a:spLocks noGrp="1"/>
          </p:cNvSpPr>
          <p:nvPr>
            <p:ph idx="1"/>
          </p:nvPr>
        </p:nvSpPr>
        <p:spPr>
          <a:xfrm>
            <a:off x="457200" y="1028700"/>
            <a:ext cx="8229600" cy="3429001"/>
          </a:xfrm>
        </p:spPr>
        <p:txBody>
          <a:bodyPr/>
          <a:lstStyle>
            <a:lvl1pPr marL="342900" indent="-342900">
              <a:buClr>
                <a:srgbClr val="99CC33"/>
              </a:buClr>
              <a:buSzPct val="80000"/>
              <a:buFont typeface="Calibri" pitchFamily="34" charset="0"/>
              <a:buChar char="●"/>
              <a:defRPr>
                <a:latin typeface="Trebuchet MS"/>
                <a:cs typeface="Trebuchet MS"/>
              </a:defRPr>
            </a:lvl1pPr>
            <a:lvl2pPr marL="742950" indent="-285750">
              <a:buClr>
                <a:srgbClr val="99CC33"/>
              </a:buClr>
              <a:buFont typeface="Wingdings" pitchFamily="2" charset="2"/>
              <a:buChar char="§"/>
              <a:defRPr>
                <a:latin typeface="Trebuchet MS"/>
                <a:cs typeface="Trebuchet MS"/>
              </a:defRPr>
            </a:lvl2pPr>
            <a:lvl3pPr>
              <a:buClr>
                <a:srgbClr val="99CC33"/>
              </a:buClr>
              <a:defRPr>
                <a:latin typeface="Trebuchet MS"/>
                <a:cs typeface="Trebuchet MS"/>
              </a:defRPr>
            </a:lvl3pPr>
            <a:lvl4pPr marL="1600200" indent="-228600">
              <a:buClr>
                <a:srgbClr val="99CC33"/>
              </a:buClr>
              <a:buFont typeface="Wingdings" pitchFamily="2" charset="2"/>
              <a:buChar char="§"/>
              <a:defRPr>
                <a:latin typeface="Trebuchet MS"/>
                <a:cs typeface="Trebuchet MS"/>
              </a:defRPr>
            </a:lvl4pPr>
            <a:lvl5pPr marL="2057400" indent="-228600">
              <a:buClr>
                <a:schemeClr val="bg1">
                  <a:lumMod val="75000"/>
                </a:schemeClr>
              </a:buClr>
              <a:buFont typeface="Arial" pitchFamily="34" charset="0"/>
              <a:buChar char="•"/>
              <a:defRPr>
                <a:latin typeface="Trebuchet MS"/>
                <a:cs typeface="Trebuchet M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447800" y="4710113"/>
            <a:ext cx="1522413" cy="274637"/>
          </a:xfrm>
        </p:spPr>
        <p:txBody>
          <a:bodyPr/>
          <a:lstStyle>
            <a:lvl1pPr algn="r">
              <a:defRPr>
                <a:latin typeface="Trebuchet MS" pitchFamily="34" charset="0"/>
              </a:defRPr>
            </a:lvl1pPr>
          </a:lstStyle>
          <a:p>
            <a:pPr>
              <a:defRPr/>
            </a:pPr>
            <a:fld id="{2D1923F6-3B19-4C14-9608-A2EADAFA4CB9}" type="datetime4">
              <a:rPr lang="en-US"/>
              <a:pPr>
                <a:defRPr/>
              </a:pPr>
              <a:t>March 20, 2025</a:t>
            </a:fld>
            <a:endParaRPr lang="en-US"/>
          </a:p>
        </p:txBody>
      </p:sp>
      <p:sp>
        <p:nvSpPr>
          <p:cNvPr id="5" name="Footer Placeholder 4"/>
          <p:cNvSpPr>
            <a:spLocks noGrp="1"/>
          </p:cNvSpPr>
          <p:nvPr>
            <p:ph type="ftr" sz="quarter" idx="11"/>
          </p:nvPr>
        </p:nvSpPr>
        <p:spPr>
          <a:xfrm>
            <a:off x="3203575" y="4710113"/>
            <a:ext cx="2808288" cy="274637"/>
          </a:xfrm>
        </p:spPr>
        <p:txBody>
          <a:bodyPr/>
          <a:lstStyle>
            <a:lvl1pPr algn="ctr">
              <a:defRPr lang="en-US">
                <a:latin typeface="Trebuchet MS" pitchFamily="34" charset="0"/>
              </a:defRPr>
            </a:lvl1pPr>
          </a:lstStyle>
          <a:p>
            <a:pPr>
              <a:defRPr/>
            </a:pPr>
            <a:r>
              <a:t>Presenter's name</a:t>
            </a:r>
          </a:p>
        </p:txBody>
      </p:sp>
      <p:sp>
        <p:nvSpPr>
          <p:cNvPr id="6" name="Slide Number Placeholder 5"/>
          <p:cNvSpPr>
            <a:spLocks noGrp="1"/>
          </p:cNvSpPr>
          <p:nvPr>
            <p:ph type="sldNum" sz="quarter" idx="12"/>
          </p:nvPr>
        </p:nvSpPr>
        <p:spPr>
          <a:xfrm>
            <a:off x="6516688" y="4659313"/>
            <a:ext cx="595312" cy="274637"/>
          </a:xfrm>
        </p:spPr>
        <p:txBody>
          <a:bodyPr/>
          <a:lstStyle>
            <a:lvl1pPr>
              <a:defRPr lang="en-US">
                <a:latin typeface="Trebuchet MS" pitchFamily="34" charset="0"/>
              </a:defRPr>
            </a:lvl1pPr>
          </a:lstStyle>
          <a:p>
            <a:pPr>
              <a:defRPr/>
            </a:pPr>
            <a:r>
              <a:t>#</a:t>
            </a:r>
            <a:fld id="{9DDBF4A0-5A7B-4756-9749-26C4F98A547D}" type="slidenum">
              <a:rPr/>
              <a:pPr>
                <a:defRPr/>
              </a:pPr>
              <a:t>‹N°›</a:t>
            </a:fld>
            <a:endParaRPr dirty="0"/>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22313" y="3200401"/>
            <a:ext cx="7772400" cy="1021556"/>
          </a:xfrm>
        </p:spPr>
        <p:txBody>
          <a:bodyPr rtlCol="0">
            <a:normAutofit/>
          </a:bodyPr>
          <a:lstStyle>
            <a:lvl1pPr algn="l">
              <a:defRPr lang="en-US">
                <a:latin typeface="Trebuchet MS" pitchFamily="34" charset="0"/>
              </a:defRPr>
            </a:lvl1pPr>
          </a:lstStyle>
          <a:p>
            <a:pPr lvl="0"/>
            <a:r>
              <a:rPr lang="en-US"/>
              <a:t>Click to edit Master title style</a:t>
            </a:r>
            <a:endParaRPr lang="en-US" dirty="0"/>
          </a:p>
        </p:txBody>
      </p:sp>
      <p:sp>
        <p:nvSpPr>
          <p:cNvPr id="3" name="Text Placeholder 2"/>
          <p:cNvSpPr>
            <a:spLocks noGrp="1"/>
          </p:cNvSpPr>
          <p:nvPr>
            <p:ph type="body" idx="1"/>
          </p:nvPr>
        </p:nvSpPr>
        <p:spPr>
          <a:xfrm>
            <a:off x="722313" y="2075260"/>
            <a:ext cx="7772400" cy="1125140"/>
          </a:xfrm>
        </p:spPr>
        <p:txBody>
          <a:bodyPr anchor="b"/>
          <a:lstStyle>
            <a:lvl1pPr marL="0" indent="0">
              <a:buNone/>
              <a:defRPr sz="2000">
                <a:solidFill>
                  <a:schemeClr val="tx1">
                    <a:tint val="75000"/>
                  </a:schemeClr>
                </a:solidFill>
                <a:latin typeface="Trebuchet MS"/>
                <a:cs typeface="Trebuchet M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cSld>
  <p:clrMapOvr>
    <a:masterClrMapping/>
  </p:clrMapOvr>
  <p:hf hdr="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6375"/>
            <a:ext cx="8229600"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a:t>Titelmasterformat durch Klicken bearbeiten</a:t>
            </a:r>
            <a:endParaRPr lang="en-US"/>
          </a:p>
        </p:txBody>
      </p:sp>
      <p:sp>
        <p:nvSpPr>
          <p:cNvPr id="1027" name="Text Placeholder 2"/>
          <p:cNvSpPr>
            <a:spLocks noGrp="1"/>
          </p:cNvSpPr>
          <p:nvPr>
            <p:ph type="body" idx="1"/>
          </p:nvPr>
        </p:nvSpPr>
        <p:spPr bwMode="auto">
          <a:xfrm>
            <a:off x="457200" y="1200150"/>
            <a:ext cx="8229600" cy="33940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e Placeholder 3"/>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Trebuchet MS"/>
                <a:cs typeface="Trebuchet MS"/>
              </a:defRPr>
            </a:lvl1pPr>
          </a:lstStyle>
          <a:p>
            <a:pPr>
              <a:defRPr/>
            </a:pPr>
            <a:fld id="{FD049DA2-92E6-49B7-886F-89DB8AD8F201}" type="datetime4">
              <a:rPr lang="en-US"/>
              <a:pPr>
                <a:defRPr/>
              </a:pPr>
              <a:t>March 20, 2025</a:t>
            </a:fld>
            <a:endParaRPr lang="en-US"/>
          </a:p>
        </p:txBody>
      </p:sp>
      <p:sp>
        <p:nvSpPr>
          <p:cNvPr id="5" name="Footer Placeholder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ebuchet MS"/>
                <a:cs typeface="Trebuchet MS"/>
              </a:defRPr>
            </a:lvl1pPr>
          </a:lstStyle>
          <a:p>
            <a:pPr>
              <a:defRPr/>
            </a:pPr>
            <a:r>
              <a:rPr lang="en-US"/>
              <a:t>Presenter's name</a:t>
            </a:r>
            <a:endParaRPr lang="en-US" dirty="0"/>
          </a:p>
        </p:txBody>
      </p:sp>
      <p:sp>
        <p:nvSpPr>
          <p:cNvPr id="6" name="Slide Number Placeholder 5"/>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Trebuchet MS"/>
                <a:cs typeface="Trebuchet MS"/>
              </a:defRPr>
            </a:lvl1pPr>
          </a:lstStyle>
          <a:p>
            <a:pPr>
              <a:defRPr/>
            </a:pPr>
            <a:r>
              <a:rPr lang="en-US"/>
              <a:t>#</a:t>
            </a:r>
            <a:fld id="{820810C8-F5CE-4209-AE09-CD3DF0BF8F86}" type="slidenum">
              <a:rPr lang="en-US"/>
              <a:pPr>
                <a:defRPr/>
              </a:pPr>
              <a:t>‹N°›</a:t>
            </a:fld>
            <a:endParaRPr lang="en-US" dirty="0"/>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Lst>
  <p:transition>
    <p:fade/>
  </p:transition>
  <p:hf hdr="0"/>
  <p:txStyles>
    <p:titleStyle>
      <a:lvl1pPr algn="ctr" rtl="0" eaLnBrk="0" fontAlgn="base" hangingPunct="0">
        <a:spcBef>
          <a:spcPct val="0"/>
        </a:spcBef>
        <a:spcAft>
          <a:spcPct val="0"/>
        </a:spcAft>
        <a:defRPr sz="4400" kern="1200">
          <a:solidFill>
            <a:schemeClr val="tx1"/>
          </a:solidFill>
          <a:latin typeface="Trebuchet MS"/>
          <a:ea typeface="Trebuchet MS" pitchFamily="34" charset="0"/>
          <a:cs typeface="Trebuchet MS"/>
        </a:defRPr>
      </a:lvl1pPr>
      <a:lvl2pPr algn="ctr" rtl="0" eaLnBrk="0" fontAlgn="base" hangingPunct="0">
        <a:spcBef>
          <a:spcPct val="0"/>
        </a:spcBef>
        <a:spcAft>
          <a:spcPct val="0"/>
        </a:spcAft>
        <a:defRPr sz="4400">
          <a:solidFill>
            <a:schemeClr val="tx1"/>
          </a:solidFill>
          <a:latin typeface="Trebuchet MS" pitchFamily="34" charset="0"/>
          <a:ea typeface="Trebuchet MS" pitchFamily="34" charset="0"/>
          <a:cs typeface="Trebuchet MS" pitchFamily="34" charset="0"/>
        </a:defRPr>
      </a:lvl2pPr>
      <a:lvl3pPr algn="ctr" rtl="0" eaLnBrk="0" fontAlgn="base" hangingPunct="0">
        <a:spcBef>
          <a:spcPct val="0"/>
        </a:spcBef>
        <a:spcAft>
          <a:spcPct val="0"/>
        </a:spcAft>
        <a:defRPr sz="4400">
          <a:solidFill>
            <a:schemeClr val="tx1"/>
          </a:solidFill>
          <a:latin typeface="Trebuchet MS" pitchFamily="34" charset="0"/>
          <a:ea typeface="Trebuchet MS" pitchFamily="34" charset="0"/>
          <a:cs typeface="Trebuchet MS" pitchFamily="34" charset="0"/>
        </a:defRPr>
      </a:lvl3pPr>
      <a:lvl4pPr algn="ctr" rtl="0" eaLnBrk="0" fontAlgn="base" hangingPunct="0">
        <a:spcBef>
          <a:spcPct val="0"/>
        </a:spcBef>
        <a:spcAft>
          <a:spcPct val="0"/>
        </a:spcAft>
        <a:defRPr sz="4400">
          <a:solidFill>
            <a:schemeClr val="tx1"/>
          </a:solidFill>
          <a:latin typeface="Trebuchet MS" pitchFamily="34" charset="0"/>
          <a:ea typeface="Trebuchet MS" pitchFamily="34" charset="0"/>
          <a:cs typeface="Trebuchet MS" pitchFamily="34" charset="0"/>
        </a:defRPr>
      </a:lvl4pPr>
      <a:lvl5pPr algn="ctr" rtl="0" eaLnBrk="0" fontAlgn="base" hangingPunct="0">
        <a:spcBef>
          <a:spcPct val="0"/>
        </a:spcBef>
        <a:spcAft>
          <a:spcPct val="0"/>
        </a:spcAft>
        <a:defRPr sz="4400">
          <a:solidFill>
            <a:schemeClr val="tx1"/>
          </a:solidFill>
          <a:latin typeface="Trebuchet MS" pitchFamily="34" charset="0"/>
          <a:ea typeface="Trebuchet MS" pitchFamily="34" charset="0"/>
          <a:cs typeface="Trebuchet MS" pitchFamily="34" charset="0"/>
        </a:defRPr>
      </a:lvl5pPr>
      <a:lvl6pPr marL="457200" algn="ctr" rtl="0" fontAlgn="base">
        <a:spcBef>
          <a:spcPct val="0"/>
        </a:spcBef>
        <a:spcAft>
          <a:spcPct val="0"/>
        </a:spcAft>
        <a:defRPr sz="4400">
          <a:solidFill>
            <a:schemeClr val="tx1"/>
          </a:solidFill>
          <a:latin typeface="Trebuchet MS" pitchFamily="34" charset="0"/>
        </a:defRPr>
      </a:lvl6pPr>
      <a:lvl7pPr marL="914400" algn="ctr" rtl="0" fontAlgn="base">
        <a:spcBef>
          <a:spcPct val="0"/>
        </a:spcBef>
        <a:spcAft>
          <a:spcPct val="0"/>
        </a:spcAft>
        <a:defRPr sz="4400">
          <a:solidFill>
            <a:schemeClr val="tx1"/>
          </a:solidFill>
          <a:latin typeface="Trebuchet MS" pitchFamily="34" charset="0"/>
        </a:defRPr>
      </a:lvl7pPr>
      <a:lvl8pPr marL="1371600" algn="ctr" rtl="0" fontAlgn="base">
        <a:spcBef>
          <a:spcPct val="0"/>
        </a:spcBef>
        <a:spcAft>
          <a:spcPct val="0"/>
        </a:spcAft>
        <a:defRPr sz="4400">
          <a:solidFill>
            <a:schemeClr val="tx1"/>
          </a:solidFill>
          <a:latin typeface="Trebuchet MS" pitchFamily="34" charset="0"/>
        </a:defRPr>
      </a:lvl8pPr>
      <a:lvl9pPr marL="1828800" algn="ctr" rtl="0" fontAlgn="base">
        <a:spcBef>
          <a:spcPct val="0"/>
        </a:spcBef>
        <a:spcAft>
          <a:spcPct val="0"/>
        </a:spcAft>
        <a:defRPr sz="4400">
          <a:solidFill>
            <a:schemeClr val="tx1"/>
          </a:solidFill>
          <a:latin typeface="Trebuchet MS"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Trebuchet MS"/>
          <a:ea typeface="Trebuchet MS" pitchFamily="34" charset="0"/>
          <a:cs typeface="Trebuchet M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Trebuchet MS"/>
          <a:ea typeface="Trebuchet MS" pitchFamily="34" charset="0"/>
          <a:cs typeface="Trebuchet M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Trebuchet MS"/>
          <a:ea typeface="Trebuchet MS" pitchFamily="34" charset="0"/>
          <a:cs typeface="Trebuchet M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Trebuchet MS"/>
          <a:ea typeface="Trebuchet MS" pitchFamily="34" charset="0"/>
          <a:cs typeface="Trebuchet M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Trebuchet MS"/>
          <a:ea typeface="Trebuchet MS" pitchFamily="34" charset="0"/>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1.jpg"/><Relationship Id="rId5" Type="http://schemas.openxmlformats.org/officeDocument/2006/relationships/image" Target="../media/image10.png"/><Relationship Id="rId4"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2"/>
          <p:cNvSpPr>
            <a:spLocks noChangeArrowheads="1"/>
          </p:cNvSpPr>
          <p:nvPr/>
        </p:nvSpPr>
        <p:spPr bwMode="auto">
          <a:xfrm>
            <a:off x="0" y="4662488"/>
            <a:ext cx="9144000" cy="481012"/>
          </a:xfrm>
          <a:prstGeom prst="rect">
            <a:avLst/>
          </a:prstGeom>
          <a:solidFill>
            <a:schemeClr val="accent4"/>
          </a:solidFill>
          <a:ln w="9525" algn="ctr">
            <a:noFill/>
            <a:miter lim="800000"/>
            <a:headEnd/>
            <a:tailEnd/>
          </a:ln>
        </p:spPr>
        <p:txBody>
          <a:bodyPr anchor="ctr"/>
          <a:lstStyle/>
          <a:p>
            <a:pPr algn="ctr"/>
            <a:endParaRPr lang="fr-FR" b="0" dirty="0">
              <a:solidFill>
                <a:srgbClr val="D8D4BA"/>
              </a:solidFill>
              <a:latin typeface="Trebuchet MS" pitchFamily="34" charset="0"/>
            </a:endParaRPr>
          </a:p>
        </p:txBody>
      </p:sp>
      <p:sp>
        <p:nvSpPr>
          <p:cNvPr id="7" name="Titel 4"/>
          <p:cNvSpPr txBox="1">
            <a:spLocks/>
          </p:cNvSpPr>
          <p:nvPr/>
        </p:nvSpPr>
        <p:spPr>
          <a:xfrm>
            <a:off x="142875" y="9549"/>
            <a:ext cx="8534400" cy="762001"/>
          </a:xfrm>
          <a:prstGeom prst="rect">
            <a:avLst/>
          </a:prstGeom>
        </p:spPr>
        <p:txBody>
          <a:bodyPr/>
          <a:lstStyle/>
          <a:p>
            <a:pPr marL="0" marR="0" lvl="0" indent="0" defTabSz="914400" rtl="0" eaLnBrk="1" fontAlgn="base" latinLnBrk="0" hangingPunct="1">
              <a:lnSpc>
                <a:spcPct val="100000"/>
              </a:lnSpc>
              <a:spcBef>
                <a:spcPct val="0"/>
              </a:spcBef>
              <a:spcAft>
                <a:spcPct val="0"/>
              </a:spcAft>
              <a:buClrTx/>
              <a:buSzTx/>
              <a:buFontTx/>
              <a:buNone/>
              <a:tabLst/>
              <a:defRPr/>
            </a:pPr>
            <a:r>
              <a:rPr lang="en-US" sz="3500" dirty="0">
                <a:solidFill>
                  <a:schemeClr val="bg1"/>
                </a:solidFill>
                <a:latin typeface="+mj-lt"/>
                <a:ea typeface="+mj-ea"/>
                <a:cs typeface="+mj-cs"/>
              </a:rPr>
              <a:t>Research Project</a:t>
            </a:r>
            <a:endParaRPr kumimoji="0" lang="en-US" sz="3500" b="0" i="0" u="none" strike="noStrike" kern="1200" cap="none" spc="0" normalizeH="0" baseline="0" noProof="0" dirty="0">
              <a:ln>
                <a:noFill/>
              </a:ln>
              <a:solidFill>
                <a:schemeClr val="bg1"/>
              </a:solidFill>
              <a:effectLst/>
              <a:uLnTx/>
              <a:uFillTx/>
              <a:latin typeface="+mj-lt"/>
              <a:ea typeface="+mj-ea"/>
              <a:cs typeface="+mj-cs"/>
            </a:endParaRPr>
          </a:p>
        </p:txBody>
      </p:sp>
      <p:pic>
        <p:nvPicPr>
          <p:cNvPr id="8" name="Picture 2" descr="C:\Users\yann\Desktop\aberdeen\rgu\rgulogo\bar2.png"/>
          <p:cNvPicPr>
            <a:picLocks noChangeAspect="1" noChangeArrowheads="1"/>
          </p:cNvPicPr>
          <p:nvPr/>
        </p:nvPicPr>
        <p:blipFill>
          <a:blip r:embed="rId2" cstate="print"/>
          <a:srcRect/>
          <a:stretch>
            <a:fillRect/>
          </a:stretch>
        </p:blipFill>
        <p:spPr bwMode="auto">
          <a:xfrm>
            <a:off x="0" y="628123"/>
            <a:ext cx="9144000" cy="72008"/>
          </a:xfrm>
          <a:prstGeom prst="rect">
            <a:avLst/>
          </a:prstGeom>
          <a:noFill/>
        </p:spPr>
      </p:pic>
      <p:pic>
        <p:nvPicPr>
          <p:cNvPr id="9" name="Picture 2" descr="C:\Users\yann\Desktop\aberdeen\rgu\rgulogo\bar2.png"/>
          <p:cNvPicPr>
            <a:picLocks noChangeAspect="1" noChangeArrowheads="1"/>
          </p:cNvPicPr>
          <p:nvPr/>
        </p:nvPicPr>
        <p:blipFill>
          <a:blip r:embed="rId2" cstate="print"/>
          <a:srcRect/>
          <a:stretch>
            <a:fillRect/>
          </a:stretch>
        </p:blipFill>
        <p:spPr bwMode="auto">
          <a:xfrm>
            <a:off x="0" y="4659982"/>
            <a:ext cx="9144000" cy="72008"/>
          </a:xfrm>
          <a:prstGeom prst="rect">
            <a:avLst/>
          </a:prstGeom>
          <a:noFill/>
        </p:spPr>
      </p:pic>
      <p:sp>
        <p:nvSpPr>
          <p:cNvPr id="10" name="Rectangle 9"/>
          <p:cNvSpPr/>
          <p:nvPr/>
        </p:nvSpPr>
        <p:spPr>
          <a:xfrm>
            <a:off x="142875" y="826912"/>
            <a:ext cx="8712968" cy="2308324"/>
          </a:xfrm>
          <a:prstGeom prst="rect">
            <a:avLst/>
          </a:prstGeom>
        </p:spPr>
        <p:txBody>
          <a:bodyPr wrap="square">
            <a:spAutoFit/>
          </a:bodyPr>
          <a:lstStyle/>
          <a:p>
            <a:r>
              <a:rPr lang="en-US" sz="1600" b="1" dirty="0"/>
              <a:t>Aim:</a:t>
            </a:r>
            <a:r>
              <a:rPr lang="en-US" sz="1600" dirty="0"/>
              <a:t> To create a ”script” or “program” that can “scrape” 1000s of related job ads from any industry. </a:t>
            </a:r>
          </a:p>
          <a:p>
            <a:endParaRPr lang="en-US" sz="1600" dirty="0"/>
          </a:p>
          <a:p>
            <a:r>
              <a:rPr lang="en-US" sz="1600" dirty="0"/>
              <a:t>The purpose of which is to help inform course design of University's (specifically RGU) to enable courses and assessments to reflect the actual needs of industry and as such enhance graduates’ employability. </a:t>
            </a:r>
          </a:p>
          <a:p>
            <a:endParaRPr lang="en-US" sz="1600" b="1" dirty="0"/>
          </a:p>
          <a:p>
            <a:r>
              <a:rPr lang="en-US" sz="1600" b="1" dirty="0"/>
              <a:t>Possible tools:</a:t>
            </a:r>
            <a:r>
              <a:rPr lang="en-US" sz="1600" dirty="0"/>
              <a:t> Python + appropriate libraries (to be scoped by student)</a:t>
            </a:r>
            <a:endParaRPr lang="en-US" sz="1600" b="1" dirty="0"/>
          </a:p>
          <a:p>
            <a:endParaRPr lang="en-GB" altLang="zh-CN" sz="1600" dirty="0"/>
          </a:p>
        </p:txBody>
      </p:sp>
      <p:sp>
        <p:nvSpPr>
          <p:cNvPr id="11" name="Rectangle 12"/>
          <p:cNvSpPr>
            <a:spLocks noChangeArrowheads="1"/>
          </p:cNvSpPr>
          <p:nvPr/>
        </p:nvSpPr>
        <p:spPr bwMode="auto">
          <a:xfrm>
            <a:off x="0" y="-14833"/>
            <a:ext cx="9144000" cy="714375"/>
          </a:xfrm>
          <a:prstGeom prst="rect">
            <a:avLst/>
          </a:prstGeom>
          <a:solidFill>
            <a:schemeClr val="accent4"/>
          </a:solidFill>
          <a:ln w="9525" algn="ctr">
            <a:noFill/>
            <a:miter lim="800000"/>
            <a:headEnd/>
            <a:tailEnd/>
          </a:ln>
        </p:spPr>
        <p:txBody>
          <a:bodyPr anchor="ctr"/>
          <a:lstStyle/>
          <a:p>
            <a:pPr algn="ctr"/>
            <a:endParaRPr lang="fr-FR" b="0">
              <a:solidFill>
                <a:srgbClr val="D8D4BA"/>
              </a:solidFill>
              <a:latin typeface="Trebuchet MS" pitchFamily="34" charset="0"/>
            </a:endParaRPr>
          </a:p>
        </p:txBody>
      </p:sp>
      <p:sp>
        <p:nvSpPr>
          <p:cNvPr id="12" name="Titel 4"/>
          <p:cNvSpPr txBox="1">
            <a:spLocks/>
          </p:cNvSpPr>
          <p:nvPr/>
        </p:nvSpPr>
        <p:spPr>
          <a:xfrm>
            <a:off x="142875" y="-14833"/>
            <a:ext cx="8958528" cy="762001"/>
          </a:xfrm>
          <a:prstGeom prst="rect">
            <a:avLst/>
          </a:prstGeom>
        </p:spPr>
        <p:txBody>
          <a:bodyPr/>
          <a:lstStyle/>
          <a:p>
            <a:pPr>
              <a:defRPr/>
            </a:pPr>
            <a:r>
              <a:rPr lang="en-GB" sz="3500" dirty="0">
                <a:solidFill>
                  <a:schemeClr val="bg1"/>
                </a:solidFill>
                <a:latin typeface="+mj-lt"/>
              </a:rPr>
              <a:t>Graduate Skills Scrapping Tool</a:t>
            </a:r>
            <a:endParaRPr lang="en-GB" sz="35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3" name="Picture 2" descr="C:\Users\yann\Desktop\aberdeen\rgu\rgulogo\bar2.png"/>
          <p:cNvPicPr>
            <a:picLocks noChangeAspect="1" noChangeArrowheads="1"/>
          </p:cNvPicPr>
          <p:nvPr/>
        </p:nvPicPr>
        <p:blipFill>
          <a:blip r:embed="rId2" cstate="print"/>
          <a:srcRect/>
          <a:stretch>
            <a:fillRect/>
          </a:stretch>
        </p:blipFill>
        <p:spPr bwMode="auto">
          <a:xfrm>
            <a:off x="0" y="627534"/>
            <a:ext cx="9144000" cy="72008"/>
          </a:xfrm>
          <a:prstGeom prst="rect">
            <a:avLst/>
          </a:prstGeom>
          <a:noFill/>
        </p:spPr>
      </p:pic>
      <p:sp>
        <p:nvSpPr>
          <p:cNvPr id="14" name="Subtitle 2">
            <a:extLst>
              <a:ext uri="{FF2B5EF4-FFF2-40B4-BE49-F238E27FC236}">
                <a16:creationId xmlns:a16="http://schemas.microsoft.com/office/drawing/2014/main" id="{8FE05503-C642-4B91-832A-FA4A2F8991A0}"/>
              </a:ext>
            </a:extLst>
          </p:cNvPr>
          <p:cNvSpPr txBox="1">
            <a:spLocks/>
          </p:cNvSpPr>
          <p:nvPr/>
        </p:nvSpPr>
        <p:spPr>
          <a:xfrm>
            <a:off x="48752" y="4733131"/>
            <a:ext cx="5117115" cy="36896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Verdana"/>
                <a:ea typeface="+mn-ea"/>
                <a:cs typeface="Verdana"/>
              </a:defRPr>
            </a:lvl1pPr>
            <a:lvl2pPr marL="742950" indent="-285750" algn="l" defTabSz="457200" rtl="0" eaLnBrk="1" latinLnBrk="0" hangingPunct="1">
              <a:spcBef>
                <a:spcPct val="20000"/>
              </a:spcBef>
              <a:buFont typeface="Arial"/>
              <a:buChar char="–"/>
              <a:defRPr sz="2000" kern="1200">
                <a:solidFill>
                  <a:schemeClr val="tx1"/>
                </a:solidFill>
                <a:latin typeface="Verdana"/>
                <a:ea typeface="+mn-ea"/>
                <a:cs typeface="Verdana"/>
              </a:defRPr>
            </a:lvl2pPr>
            <a:lvl3pPr marL="1143000" indent="-228600" algn="l" defTabSz="457200" rtl="0" eaLnBrk="1" latinLnBrk="0" hangingPunct="1">
              <a:spcBef>
                <a:spcPct val="20000"/>
              </a:spcBef>
              <a:buFont typeface="Arial"/>
              <a:buChar char="•"/>
              <a:defRPr sz="1800" kern="1200">
                <a:solidFill>
                  <a:schemeClr val="tx1"/>
                </a:solidFill>
                <a:latin typeface="Verdana"/>
                <a:ea typeface="+mn-ea"/>
                <a:cs typeface="Verdana"/>
              </a:defRPr>
            </a:lvl3pPr>
            <a:lvl4pPr marL="1600200" indent="-228600" algn="l" defTabSz="457200" rtl="0" eaLnBrk="1" latinLnBrk="0" hangingPunct="1">
              <a:spcBef>
                <a:spcPct val="20000"/>
              </a:spcBef>
              <a:buFont typeface="Arial"/>
              <a:buChar char="–"/>
              <a:defRPr sz="1600" kern="1200">
                <a:solidFill>
                  <a:schemeClr val="tx1"/>
                </a:solidFill>
                <a:latin typeface="Verdana"/>
                <a:ea typeface="+mn-ea"/>
                <a:cs typeface="Verdana"/>
              </a:defRPr>
            </a:lvl4pPr>
            <a:lvl5pPr marL="2057400" indent="-228600" algn="l" defTabSz="457200" rtl="0" eaLnBrk="1" latinLnBrk="0" hangingPunct="1">
              <a:spcBef>
                <a:spcPct val="20000"/>
              </a:spcBef>
              <a:buFont typeface="Arial"/>
              <a:buChar char="»"/>
              <a:defRPr sz="1400" kern="1200">
                <a:solidFill>
                  <a:schemeClr val="tx1"/>
                </a:solidFill>
                <a:latin typeface="Verdana"/>
                <a:ea typeface="+mn-ea"/>
                <a:cs typeface="Verdan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buNone/>
            </a:pPr>
            <a:r>
              <a:rPr lang="en-GB" sz="1400" dirty="0">
                <a:solidFill>
                  <a:schemeClr val="bg1"/>
                </a:solidFill>
                <a:latin typeface="+mn-lt"/>
              </a:rPr>
              <a:t>Supervisor(s): Jack Keenan, Elliot Pirie, Mark Zarb</a:t>
            </a:r>
            <a:endParaRPr lang="en-US" sz="1400" dirty="0">
              <a:solidFill>
                <a:schemeClr val="bg1"/>
              </a:solidFill>
              <a:latin typeface="+mn-lt"/>
            </a:endParaRPr>
          </a:p>
        </p:txBody>
      </p:sp>
      <p:pic>
        <p:nvPicPr>
          <p:cNvPr id="3" name="Picture 2" descr="A graph of sales&#10;&#10;Description automatically generated with medium confidence">
            <a:extLst>
              <a:ext uri="{FF2B5EF4-FFF2-40B4-BE49-F238E27FC236}">
                <a16:creationId xmlns:a16="http://schemas.microsoft.com/office/drawing/2014/main" id="{102D142F-E837-0196-4280-4A40F14D1089}"/>
              </a:ext>
            </a:extLst>
          </p:cNvPr>
          <p:cNvPicPr>
            <a:picLocks noChangeAspect="1"/>
          </p:cNvPicPr>
          <p:nvPr/>
        </p:nvPicPr>
        <p:blipFill>
          <a:blip r:embed="rId3" cstate="print">
            <a:extLst>
              <a:ext uri="{28A0092B-C50C-407E-A947-70E740481C1C}">
                <a14:useLocalDpi xmlns:a14="http://schemas.microsoft.com/office/drawing/2010/main" val="0"/>
              </a:ext>
            </a:extLst>
          </a:blip>
          <a:srcRect b="51550"/>
          <a:stretch/>
        </p:blipFill>
        <p:spPr>
          <a:xfrm>
            <a:off x="1835063" y="2801154"/>
            <a:ext cx="5328592" cy="1834446"/>
          </a:xfrm>
          <a:prstGeom prst="rect">
            <a:avLst/>
          </a:prstGeom>
        </p:spPr>
      </p:pic>
    </p:spTree>
    <p:extLst>
      <p:ext uri="{BB962C8B-B14F-4D97-AF65-F5344CB8AC3E}">
        <p14:creationId xmlns:p14="http://schemas.microsoft.com/office/powerpoint/2010/main" val="2853078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2"/>
          <p:cNvSpPr>
            <a:spLocks noChangeArrowheads="1"/>
          </p:cNvSpPr>
          <p:nvPr/>
        </p:nvSpPr>
        <p:spPr bwMode="auto">
          <a:xfrm>
            <a:off x="0" y="4662488"/>
            <a:ext cx="9144000" cy="481012"/>
          </a:xfrm>
          <a:prstGeom prst="rect">
            <a:avLst/>
          </a:prstGeom>
          <a:solidFill>
            <a:schemeClr val="accent4"/>
          </a:solidFill>
          <a:ln w="9525" algn="ctr">
            <a:noFill/>
            <a:miter lim="800000"/>
            <a:headEnd/>
            <a:tailEnd/>
          </a:ln>
        </p:spPr>
        <p:txBody>
          <a:bodyPr anchor="ctr"/>
          <a:lstStyle/>
          <a:p>
            <a:pPr algn="ctr"/>
            <a:endParaRPr lang="fr-FR" b="0" dirty="0">
              <a:solidFill>
                <a:srgbClr val="D8D4BA"/>
              </a:solidFill>
              <a:latin typeface="Trebuchet MS" pitchFamily="34" charset="0"/>
            </a:endParaRPr>
          </a:p>
        </p:txBody>
      </p:sp>
      <p:sp>
        <p:nvSpPr>
          <p:cNvPr id="7" name="Titel 4"/>
          <p:cNvSpPr txBox="1">
            <a:spLocks/>
          </p:cNvSpPr>
          <p:nvPr/>
        </p:nvSpPr>
        <p:spPr>
          <a:xfrm>
            <a:off x="142875" y="9549"/>
            <a:ext cx="8534400" cy="762001"/>
          </a:xfrm>
          <a:prstGeom prst="rect">
            <a:avLst/>
          </a:prstGeom>
        </p:spPr>
        <p:txBody>
          <a:bodyPr/>
          <a:lstStyle/>
          <a:p>
            <a:pPr marL="0" marR="0" lvl="0" indent="0" defTabSz="914400" rtl="0" eaLnBrk="1" fontAlgn="base" latinLnBrk="0" hangingPunct="1">
              <a:lnSpc>
                <a:spcPct val="100000"/>
              </a:lnSpc>
              <a:spcBef>
                <a:spcPct val="0"/>
              </a:spcBef>
              <a:spcAft>
                <a:spcPct val="0"/>
              </a:spcAft>
              <a:buClrTx/>
              <a:buSzTx/>
              <a:buFontTx/>
              <a:buNone/>
              <a:tabLst/>
              <a:defRPr/>
            </a:pPr>
            <a:r>
              <a:rPr lang="en-US" sz="3500" dirty="0">
                <a:solidFill>
                  <a:schemeClr val="bg1"/>
                </a:solidFill>
                <a:latin typeface="+mj-lt"/>
                <a:ea typeface="+mj-ea"/>
                <a:cs typeface="+mj-cs"/>
              </a:rPr>
              <a:t>Research Project</a:t>
            </a:r>
            <a:endParaRPr kumimoji="0" lang="en-US" sz="3500" b="0" i="0" u="none" strike="noStrike" kern="1200" cap="none" spc="0" normalizeH="0" baseline="0" noProof="0" dirty="0">
              <a:ln>
                <a:noFill/>
              </a:ln>
              <a:solidFill>
                <a:schemeClr val="bg1"/>
              </a:solidFill>
              <a:effectLst/>
              <a:uLnTx/>
              <a:uFillTx/>
              <a:latin typeface="+mj-lt"/>
              <a:ea typeface="+mj-ea"/>
              <a:cs typeface="+mj-cs"/>
            </a:endParaRPr>
          </a:p>
        </p:txBody>
      </p:sp>
      <p:pic>
        <p:nvPicPr>
          <p:cNvPr id="8" name="Picture 2" descr="C:\Users\yann\Desktop\aberdeen\rgu\rgulogo\bar2.png"/>
          <p:cNvPicPr>
            <a:picLocks noChangeAspect="1" noChangeArrowheads="1"/>
          </p:cNvPicPr>
          <p:nvPr/>
        </p:nvPicPr>
        <p:blipFill>
          <a:blip r:embed="rId2" cstate="print"/>
          <a:srcRect/>
          <a:stretch>
            <a:fillRect/>
          </a:stretch>
        </p:blipFill>
        <p:spPr bwMode="auto">
          <a:xfrm>
            <a:off x="0" y="628123"/>
            <a:ext cx="9144000" cy="72008"/>
          </a:xfrm>
          <a:prstGeom prst="rect">
            <a:avLst/>
          </a:prstGeom>
          <a:noFill/>
        </p:spPr>
      </p:pic>
      <p:pic>
        <p:nvPicPr>
          <p:cNvPr id="9" name="Picture 2" descr="C:\Users\yann\Desktop\aberdeen\rgu\rgulogo\bar2.png"/>
          <p:cNvPicPr>
            <a:picLocks noChangeAspect="1" noChangeArrowheads="1"/>
          </p:cNvPicPr>
          <p:nvPr/>
        </p:nvPicPr>
        <p:blipFill>
          <a:blip r:embed="rId2" cstate="print"/>
          <a:srcRect/>
          <a:stretch>
            <a:fillRect/>
          </a:stretch>
        </p:blipFill>
        <p:spPr bwMode="auto">
          <a:xfrm>
            <a:off x="0" y="4659982"/>
            <a:ext cx="9144000" cy="72008"/>
          </a:xfrm>
          <a:prstGeom prst="rect">
            <a:avLst/>
          </a:prstGeom>
          <a:noFill/>
        </p:spPr>
      </p:pic>
      <p:sp>
        <p:nvSpPr>
          <p:cNvPr id="10" name="Rectangle 9"/>
          <p:cNvSpPr/>
          <p:nvPr/>
        </p:nvSpPr>
        <p:spPr>
          <a:xfrm>
            <a:off x="142875" y="826912"/>
            <a:ext cx="5022992" cy="2477601"/>
          </a:xfrm>
          <a:prstGeom prst="rect">
            <a:avLst/>
          </a:prstGeom>
        </p:spPr>
        <p:txBody>
          <a:bodyPr wrap="square">
            <a:spAutoFit/>
          </a:bodyPr>
          <a:lstStyle/>
          <a:p>
            <a:r>
              <a:rPr lang="en-US" sz="1200" b="1" dirty="0"/>
              <a:t>Aim:</a:t>
            </a:r>
            <a:r>
              <a:rPr lang="en-US" sz="1200" dirty="0"/>
              <a:t> To develop a customizable 3D environment, compatible with Virtual Reality and that uses an ‘itinerary system’ to allow the addition/removal of assets that add personality to your custom-made space.</a:t>
            </a:r>
          </a:p>
          <a:p>
            <a:endParaRPr lang="en-US" sz="1200" b="1" dirty="0"/>
          </a:p>
          <a:p>
            <a:r>
              <a:rPr lang="en-US" sz="1200" b="1" dirty="0"/>
              <a:t>Possible tools:</a:t>
            </a:r>
            <a:r>
              <a:rPr lang="en-US" sz="1200" dirty="0"/>
              <a:t> This project will make use of a Meta Quest headset (2 or 3) and require a game engine such as </a:t>
            </a:r>
            <a:r>
              <a:rPr lang="en-US" sz="1200" dirty="0">
                <a:highlight>
                  <a:srgbClr val="FFFF00"/>
                </a:highlight>
              </a:rPr>
              <a:t>Unity</a:t>
            </a:r>
            <a:r>
              <a:rPr lang="en-US" sz="1200" dirty="0"/>
              <a:t>. There will </a:t>
            </a:r>
            <a:r>
              <a:rPr lang="en-US" sz="1200" dirty="0">
                <a:highlight>
                  <a:srgbClr val="FFFF00"/>
                </a:highlight>
              </a:rPr>
              <a:t>be scripting </a:t>
            </a:r>
            <a:r>
              <a:rPr lang="en-US" sz="1200" dirty="0"/>
              <a:t>involved both on a visual level but also</a:t>
            </a:r>
            <a:r>
              <a:rPr lang="en-US" sz="1200" dirty="0">
                <a:highlight>
                  <a:srgbClr val="FFFF00"/>
                </a:highlight>
              </a:rPr>
              <a:t>, with hard code via C#. </a:t>
            </a:r>
            <a:r>
              <a:rPr lang="en-US" sz="1200" dirty="0"/>
              <a:t>The </a:t>
            </a:r>
            <a:r>
              <a:rPr lang="en-US" sz="1200" dirty="0">
                <a:highlight>
                  <a:srgbClr val="FFFF00"/>
                </a:highlight>
              </a:rPr>
              <a:t>Asset Store (or similar</a:t>
            </a:r>
            <a:r>
              <a:rPr lang="en-US" sz="1200" dirty="0"/>
              <a:t>) will be used in the project and should be on a royalty free basis, but use of </a:t>
            </a:r>
            <a:r>
              <a:rPr lang="en-US" sz="1200" dirty="0">
                <a:highlight>
                  <a:srgbClr val="FFFF00"/>
                </a:highlight>
              </a:rPr>
              <a:t>Blender for ‘custom</a:t>
            </a:r>
            <a:r>
              <a:rPr lang="en-US" sz="1200" dirty="0"/>
              <a:t>’ assets may be a possibility. There will be the need for </a:t>
            </a:r>
            <a:r>
              <a:rPr lang="en-US" sz="1200" dirty="0">
                <a:highlight>
                  <a:srgbClr val="FFFF00"/>
                </a:highlight>
              </a:rPr>
              <a:t>some specialist interaction tools</a:t>
            </a:r>
            <a:r>
              <a:rPr lang="en-US" sz="1200" dirty="0"/>
              <a:t> when looking at itinerary use.</a:t>
            </a:r>
            <a:endParaRPr lang="en-US" sz="1200" b="1" dirty="0"/>
          </a:p>
          <a:p>
            <a:endParaRPr lang="en-GB" altLang="zh-CN" sz="1100" dirty="0"/>
          </a:p>
        </p:txBody>
      </p:sp>
      <p:sp>
        <p:nvSpPr>
          <p:cNvPr id="11" name="Rectangle 12"/>
          <p:cNvSpPr>
            <a:spLocks noChangeArrowheads="1"/>
          </p:cNvSpPr>
          <p:nvPr/>
        </p:nvSpPr>
        <p:spPr bwMode="auto">
          <a:xfrm>
            <a:off x="0" y="-14833"/>
            <a:ext cx="9144000" cy="714375"/>
          </a:xfrm>
          <a:prstGeom prst="rect">
            <a:avLst/>
          </a:prstGeom>
          <a:solidFill>
            <a:schemeClr val="accent4"/>
          </a:solidFill>
          <a:ln w="9525" algn="ctr">
            <a:noFill/>
            <a:miter lim="800000"/>
            <a:headEnd/>
            <a:tailEnd/>
          </a:ln>
        </p:spPr>
        <p:txBody>
          <a:bodyPr anchor="ctr"/>
          <a:lstStyle/>
          <a:p>
            <a:pPr algn="ctr"/>
            <a:endParaRPr lang="fr-FR" b="0">
              <a:solidFill>
                <a:srgbClr val="D8D4BA"/>
              </a:solidFill>
              <a:latin typeface="Trebuchet MS" pitchFamily="34" charset="0"/>
            </a:endParaRPr>
          </a:p>
        </p:txBody>
      </p:sp>
      <p:sp>
        <p:nvSpPr>
          <p:cNvPr id="12" name="Titel 4"/>
          <p:cNvSpPr txBox="1">
            <a:spLocks/>
          </p:cNvSpPr>
          <p:nvPr/>
        </p:nvSpPr>
        <p:spPr>
          <a:xfrm>
            <a:off x="142875" y="-14833"/>
            <a:ext cx="8958528" cy="762001"/>
          </a:xfrm>
          <a:prstGeom prst="rect">
            <a:avLst/>
          </a:prstGeom>
        </p:spPr>
        <p:txBody>
          <a:bodyPr/>
          <a:lstStyle/>
          <a:p>
            <a:pPr>
              <a:defRPr/>
            </a:pPr>
            <a:r>
              <a:rPr lang="en-GB" sz="3500" dirty="0">
                <a:solidFill>
                  <a:schemeClr val="bg1"/>
                </a:solidFill>
                <a:latin typeface="+mj-lt"/>
              </a:rPr>
              <a:t>Your VR Environment</a:t>
            </a:r>
            <a:endParaRPr lang="en-GB" sz="3500" dirty="0">
              <a:solidFill>
                <a:schemeClr val="bg1"/>
              </a:solidFill>
              <a:effectLst/>
              <a:latin typeface="+mj-lt"/>
              <a:ea typeface="Calibri" panose="020F0502020204030204" pitchFamily="34" charset="0"/>
              <a:cs typeface="Times New Roman" panose="02020603050405020304" pitchFamily="18" charset="0"/>
            </a:endParaRPr>
          </a:p>
        </p:txBody>
      </p:sp>
      <p:pic>
        <p:nvPicPr>
          <p:cNvPr id="13" name="Picture 2" descr="C:\Users\yann\Desktop\aberdeen\rgu\rgulogo\bar2.png"/>
          <p:cNvPicPr>
            <a:picLocks noChangeAspect="1" noChangeArrowheads="1"/>
          </p:cNvPicPr>
          <p:nvPr/>
        </p:nvPicPr>
        <p:blipFill>
          <a:blip r:embed="rId2" cstate="print"/>
          <a:srcRect/>
          <a:stretch>
            <a:fillRect/>
          </a:stretch>
        </p:blipFill>
        <p:spPr bwMode="auto">
          <a:xfrm>
            <a:off x="0" y="627534"/>
            <a:ext cx="9144000" cy="72008"/>
          </a:xfrm>
          <a:prstGeom prst="rect">
            <a:avLst/>
          </a:prstGeom>
          <a:noFill/>
        </p:spPr>
      </p:pic>
      <p:sp>
        <p:nvSpPr>
          <p:cNvPr id="14" name="Subtitle 2">
            <a:extLst>
              <a:ext uri="{FF2B5EF4-FFF2-40B4-BE49-F238E27FC236}">
                <a16:creationId xmlns:a16="http://schemas.microsoft.com/office/drawing/2014/main" id="{8FE05503-C642-4B91-832A-FA4A2F8991A0}"/>
              </a:ext>
            </a:extLst>
          </p:cNvPr>
          <p:cNvSpPr txBox="1">
            <a:spLocks/>
          </p:cNvSpPr>
          <p:nvPr/>
        </p:nvSpPr>
        <p:spPr>
          <a:xfrm>
            <a:off x="48752" y="4733131"/>
            <a:ext cx="5117115" cy="36896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Verdana"/>
                <a:ea typeface="+mn-ea"/>
                <a:cs typeface="Verdana"/>
              </a:defRPr>
            </a:lvl1pPr>
            <a:lvl2pPr marL="742950" indent="-285750" algn="l" defTabSz="457200" rtl="0" eaLnBrk="1" latinLnBrk="0" hangingPunct="1">
              <a:spcBef>
                <a:spcPct val="20000"/>
              </a:spcBef>
              <a:buFont typeface="Arial"/>
              <a:buChar char="–"/>
              <a:defRPr sz="2000" kern="1200">
                <a:solidFill>
                  <a:schemeClr val="tx1"/>
                </a:solidFill>
                <a:latin typeface="Verdana"/>
                <a:ea typeface="+mn-ea"/>
                <a:cs typeface="Verdana"/>
              </a:defRPr>
            </a:lvl2pPr>
            <a:lvl3pPr marL="1143000" indent="-228600" algn="l" defTabSz="457200" rtl="0" eaLnBrk="1" latinLnBrk="0" hangingPunct="1">
              <a:spcBef>
                <a:spcPct val="20000"/>
              </a:spcBef>
              <a:buFont typeface="Arial"/>
              <a:buChar char="•"/>
              <a:defRPr sz="1800" kern="1200">
                <a:solidFill>
                  <a:schemeClr val="tx1"/>
                </a:solidFill>
                <a:latin typeface="Verdana"/>
                <a:ea typeface="+mn-ea"/>
                <a:cs typeface="Verdana"/>
              </a:defRPr>
            </a:lvl3pPr>
            <a:lvl4pPr marL="1600200" indent="-228600" algn="l" defTabSz="457200" rtl="0" eaLnBrk="1" latinLnBrk="0" hangingPunct="1">
              <a:spcBef>
                <a:spcPct val="20000"/>
              </a:spcBef>
              <a:buFont typeface="Arial"/>
              <a:buChar char="–"/>
              <a:defRPr sz="1600" kern="1200">
                <a:solidFill>
                  <a:schemeClr val="tx1"/>
                </a:solidFill>
                <a:latin typeface="Verdana"/>
                <a:ea typeface="+mn-ea"/>
                <a:cs typeface="Verdana"/>
              </a:defRPr>
            </a:lvl4pPr>
            <a:lvl5pPr marL="2057400" indent="-228600" algn="l" defTabSz="457200" rtl="0" eaLnBrk="1" latinLnBrk="0" hangingPunct="1">
              <a:spcBef>
                <a:spcPct val="20000"/>
              </a:spcBef>
              <a:buFont typeface="Arial"/>
              <a:buChar char="»"/>
              <a:defRPr sz="1400" kern="1200">
                <a:solidFill>
                  <a:schemeClr val="tx1"/>
                </a:solidFill>
                <a:latin typeface="Verdana"/>
                <a:ea typeface="+mn-ea"/>
                <a:cs typeface="Verdan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buNone/>
            </a:pPr>
            <a:r>
              <a:rPr lang="en-GB" sz="1400" dirty="0">
                <a:solidFill>
                  <a:schemeClr val="bg1"/>
                </a:solidFill>
                <a:latin typeface="+mn-lt"/>
              </a:rPr>
              <a:t>Supervisor: Jay Munro</a:t>
            </a:r>
            <a:endParaRPr lang="en-US" sz="1400" dirty="0">
              <a:solidFill>
                <a:schemeClr val="bg1"/>
              </a:solidFill>
              <a:latin typeface="+mn-lt"/>
            </a:endParaRPr>
          </a:p>
        </p:txBody>
      </p:sp>
      <p:pic>
        <p:nvPicPr>
          <p:cNvPr id="2" name="Picture 1">
            <a:extLst>
              <a:ext uri="{FF2B5EF4-FFF2-40B4-BE49-F238E27FC236}">
                <a16:creationId xmlns:a16="http://schemas.microsoft.com/office/drawing/2014/main" id="{EF7E2F2D-637E-F480-B62A-92C24AA4DB58}"/>
              </a:ext>
            </a:extLst>
          </p:cNvPr>
          <p:cNvPicPr>
            <a:picLocks noChangeAspect="1"/>
          </p:cNvPicPr>
          <p:nvPr/>
        </p:nvPicPr>
        <p:blipFill>
          <a:blip r:embed="rId3"/>
          <a:stretch>
            <a:fillRect/>
          </a:stretch>
        </p:blipFill>
        <p:spPr>
          <a:xfrm>
            <a:off x="7524328" y="3511998"/>
            <a:ext cx="1420424" cy="935113"/>
          </a:xfrm>
          <a:prstGeom prst="rect">
            <a:avLst/>
          </a:prstGeom>
        </p:spPr>
      </p:pic>
      <p:pic>
        <p:nvPicPr>
          <p:cNvPr id="3" name="Picture 2">
            <a:extLst>
              <a:ext uri="{FF2B5EF4-FFF2-40B4-BE49-F238E27FC236}">
                <a16:creationId xmlns:a16="http://schemas.microsoft.com/office/drawing/2014/main" id="{A366655D-98A2-B893-1D22-339F866E2A70}"/>
              </a:ext>
            </a:extLst>
          </p:cNvPr>
          <p:cNvPicPr>
            <a:picLocks noChangeAspect="1"/>
          </p:cNvPicPr>
          <p:nvPr/>
        </p:nvPicPr>
        <p:blipFill>
          <a:blip r:embed="rId4"/>
          <a:stretch>
            <a:fillRect/>
          </a:stretch>
        </p:blipFill>
        <p:spPr>
          <a:xfrm>
            <a:off x="3784128" y="3507794"/>
            <a:ext cx="2001180" cy="1125664"/>
          </a:xfrm>
          <a:prstGeom prst="rect">
            <a:avLst/>
          </a:prstGeom>
        </p:spPr>
      </p:pic>
      <p:pic>
        <p:nvPicPr>
          <p:cNvPr id="4" name="Picture 3">
            <a:extLst>
              <a:ext uri="{FF2B5EF4-FFF2-40B4-BE49-F238E27FC236}">
                <a16:creationId xmlns:a16="http://schemas.microsoft.com/office/drawing/2014/main" id="{837084DB-EB7B-EEFA-6235-B72F23853840}"/>
              </a:ext>
            </a:extLst>
          </p:cNvPr>
          <p:cNvPicPr>
            <a:picLocks noChangeAspect="1"/>
          </p:cNvPicPr>
          <p:nvPr/>
        </p:nvPicPr>
        <p:blipFill>
          <a:blip r:embed="rId5"/>
          <a:stretch>
            <a:fillRect/>
          </a:stretch>
        </p:blipFill>
        <p:spPr>
          <a:xfrm>
            <a:off x="223534" y="3517384"/>
            <a:ext cx="3135160" cy="841267"/>
          </a:xfrm>
          <a:prstGeom prst="rect">
            <a:avLst/>
          </a:prstGeom>
        </p:spPr>
      </p:pic>
      <p:pic>
        <p:nvPicPr>
          <p:cNvPr id="5" name="Picture 4">
            <a:extLst>
              <a:ext uri="{FF2B5EF4-FFF2-40B4-BE49-F238E27FC236}">
                <a16:creationId xmlns:a16="http://schemas.microsoft.com/office/drawing/2014/main" id="{B9F895F1-E915-9C97-BEAD-BE7406FA4F42}"/>
              </a:ext>
            </a:extLst>
          </p:cNvPr>
          <p:cNvPicPr>
            <a:picLocks noChangeAspect="1"/>
          </p:cNvPicPr>
          <p:nvPr/>
        </p:nvPicPr>
        <p:blipFill>
          <a:blip r:embed="rId6"/>
          <a:stretch>
            <a:fillRect/>
          </a:stretch>
        </p:blipFill>
        <p:spPr>
          <a:xfrm>
            <a:off x="6026022" y="3511998"/>
            <a:ext cx="1236163" cy="1236163"/>
          </a:xfrm>
          <a:prstGeom prst="rect">
            <a:avLst/>
          </a:prstGeom>
        </p:spPr>
      </p:pic>
      <p:pic>
        <p:nvPicPr>
          <p:cNvPr id="16" name="Picture 15" descr="A screenshot of a video game&#10;&#10;Description automatically generated">
            <a:extLst>
              <a:ext uri="{FF2B5EF4-FFF2-40B4-BE49-F238E27FC236}">
                <a16:creationId xmlns:a16="http://schemas.microsoft.com/office/drawing/2014/main" id="{EF430A0D-D1FC-304C-52F3-06F3C2B4C03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65867" y="853839"/>
            <a:ext cx="3978133" cy="2237898"/>
          </a:xfrm>
          <a:prstGeom prst="rect">
            <a:avLst/>
          </a:prstGeom>
        </p:spPr>
      </p:pic>
      <p:sp>
        <p:nvSpPr>
          <p:cNvPr id="18" name="TextBox 17">
            <a:extLst>
              <a:ext uri="{FF2B5EF4-FFF2-40B4-BE49-F238E27FC236}">
                <a16:creationId xmlns:a16="http://schemas.microsoft.com/office/drawing/2014/main" id="{0C00B0CE-7182-2B04-CDDF-F1F19AF8274A}"/>
              </a:ext>
            </a:extLst>
          </p:cNvPr>
          <p:cNvSpPr txBox="1"/>
          <p:nvPr/>
        </p:nvSpPr>
        <p:spPr>
          <a:xfrm>
            <a:off x="5076056" y="3112455"/>
            <a:ext cx="4067944" cy="215444"/>
          </a:xfrm>
          <a:prstGeom prst="rect">
            <a:avLst/>
          </a:prstGeom>
          <a:noFill/>
        </p:spPr>
        <p:txBody>
          <a:bodyPr wrap="square">
            <a:spAutoFit/>
          </a:bodyPr>
          <a:lstStyle/>
          <a:p>
            <a:r>
              <a:rPr lang="en-GB" sz="800" dirty="0">
                <a:latin typeface="Arial" panose="020B0604020202020204" pitchFamily="34" charset="0"/>
                <a:cs typeface="Arial" panose="020B0604020202020204" pitchFamily="34" charset="0"/>
              </a:rPr>
              <a:t>Image: </a:t>
            </a:r>
            <a:r>
              <a:rPr lang="en-GB" sz="800" b="0" i="0" dirty="0">
                <a:effectLst/>
                <a:latin typeface="Arial" panose="020B0604020202020204" pitchFamily="34" charset="0"/>
                <a:cs typeface="Arial" panose="020B0604020202020204" pitchFamily="34" charset="0"/>
              </a:rPr>
              <a:t>Emek Can </a:t>
            </a:r>
            <a:r>
              <a:rPr lang="en-GB" sz="800" b="0" i="0" dirty="0" err="1">
                <a:effectLst/>
                <a:latin typeface="Arial" panose="020B0604020202020204" pitchFamily="34" charset="0"/>
                <a:cs typeface="Arial" panose="020B0604020202020204" pitchFamily="34" charset="0"/>
              </a:rPr>
              <a:t>Özben</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7558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2778D-5B1F-431C-17D5-9731FDA25209}"/>
            </a:ext>
          </a:extLst>
        </p:cNvPr>
        <p:cNvGrpSpPr/>
        <p:nvPr/>
      </p:nvGrpSpPr>
      <p:grpSpPr>
        <a:xfrm>
          <a:off x="0" y="0"/>
          <a:ext cx="0" cy="0"/>
          <a:chOff x="0" y="0"/>
          <a:chExt cx="0" cy="0"/>
        </a:xfrm>
      </p:grpSpPr>
      <p:sp>
        <p:nvSpPr>
          <p:cNvPr id="6" name="Rectangle 12">
            <a:extLst>
              <a:ext uri="{FF2B5EF4-FFF2-40B4-BE49-F238E27FC236}">
                <a16:creationId xmlns:a16="http://schemas.microsoft.com/office/drawing/2014/main" id="{F47DAAAB-FCF2-00EB-88FB-266FC5A0B0AF}"/>
              </a:ext>
            </a:extLst>
          </p:cNvPr>
          <p:cNvSpPr>
            <a:spLocks noChangeArrowheads="1"/>
          </p:cNvSpPr>
          <p:nvPr/>
        </p:nvSpPr>
        <p:spPr bwMode="auto">
          <a:xfrm>
            <a:off x="0" y="4662488"/>
            <a:ext cx="9144000" cy="481012"/>
          </a:xfrm>
          <a:prstGeom prst="rect">
            <a:avLst/>
          </a:prstGeom>
          <a:solidFill>
            <a:schemeClr val="accent4"/>
          </a:solidFill>
          <a:ln w="9525" algn="ctr">
            <a:noFill/>
            <a:miter lim="800000"/>
            <a:headEnd/>
            <a:tailEnd/>
          </a:ln>
        </p:spPr>
        <p:txBody>
          <a:bodyPr anchor="ctr"/>
          <a:lstStyle/>
          <a:p>
            <a:pPr algn="ctr"/>
            <a:endParaRPr lang="fr-FR" b="0" dirty="0">
              <a:solidFill>
                <a:srgbClr val="D8D4BA"/>
              </a:solidFill>
              <a:latin typeface="Trebuchet MS" pitchFamily="34" charset="0"/>
            </a:endParaRPr>
          </a:p>
        </p:txBody>
      </p:sp>
      <p:sp>
        <p:nvSpPr>
          <p:cNvPr id="7" name="Titel 4">
            <a:extLst>
              <a:ext uri="{FF2B5EF4-FFF2-40B4-BE49-F238E27FC236}">
                <a16:creationId xmlns:a16="http://schemas.microsoft.com/office/drawing/2014/main" id="{DA1F17DF-C4B4-6333-8E2A-C53D255092E9}"/>
              </a:ext>
            </a:extLst>
          </p:cNvPr>
          <p:cNvSpPr txBox="1">
            <a:spLocks/>
          </p:cNvSpPr>
          <p:nvPr/>
        </p:nvSpPr>
        <p:spPr>
          <a:xfrm>
            <a:off x="142875" y="9549"/>
            <a:ext cx="8534400" cy="762001"/>
          </a:xfrm>
          <a:prstGeom prst="rect">
            <a:avLst/>
          </a:prstGeom>
        </p:spPr>
        <p:txBody>
          <a:bodyPr/>
          <a:lstStyle/>
          <a:p>
            <a:pPr marL="0" marR="0" lvl="0" indent="0" defTabSz="914400" rtl="0" eaLnBrk="1" fontAlgn="base" latinLnBrk="0" hangingPunct="1">
              <a:lnSpc>
                <a:spcPct val="100000"/>
              </a:lnSpc>
              <a:spcBef>
                <a:spcPct val="0"/>
              </a:spcBef>
              <a:spcAft>
                <a:spcPct val="0"/>
              </a:spcAft>
              <a:buClrTx/>
              <a:buSzTx/>
              <a:buFontTx/>
              <a:buNone/>
              <a:tabLst/>
              <a:defRPr/>
            </a:pPr>
            <a:r>
              <a:rPr lang="en-US" sz="3500" dirty="0">
                <a:solidFill>
                  <a:schemeClr val="bg1"/>
                </a:solidFill>
                <a:latin typeface="+mj-lt"/>
                <a:ea typeface="+mj-ea"/>
                <a:cs typeface="+mj-cs"/>
              </a:rPr>
              <a:t>Research Project</a:t>
            </a:r>
            <a:endParaRPr kumimoji="0" lang="en-US" sz="3500" b="0" i="0" u="none" strike="noStrike" kern="1200" cap="none" spc="0" normalizeH="0" baseline="0" noProof="0" dirty="0">
              <a:ln>
                <a:noFill/>
              </a:ln>
              <a:solidFill>
                <a:schemeClr val="bg1"/>
              </a:solidFill>
              <a:effectLst/>
              <a:uLnTx/>
              <a:uFillTx/>
              <a:latin typeface="+mj-lt"/>
              <a:ea typeface="+mj-ea"/>
              <a:cs typeface="+mj-cs"/>
            </a:endParaRPr>
          </a:p>
        </p:txBody>
      </p:sp>
      <p:pic>
        <p:nvPicPr>
          <p:cNvPr id="8" name="Picture 2" descr="C:\Users\yann\Desktop\aberdeen\rgu\rgulogo\bar2.png">
            <a:extLst>
              <a:ext uri="{FF2B5EF4-FFF2-40B4-BE49-F238E27FC236}">
                <a16:creationId xmlns:a16="http://schemas.microsoft.com/office/drawing/2014/main" id="{6F868699-A00E-EE59-5D78-C103D9BF61B2}"/>
              </a:ext>
            </a:extLst>
          </p:cNvPr>
          <p:cNvPicPr>
            <a:picLocks noChangeAspect="1" noChangeArrowheads="1"/>
          </p:cNvPicPr>
          <p:nvPr/>
        </p:nvPicPr>
        <p:blipFill>
          <a:blip r:embed="rId2" cstate="print"/>
          <a:srcRect/>
          <a:stretch>
            <a:fillRect/>
          </a:stretch>
        </p:blipFill>
        <p:spPr bwMode="auto">
          <a:xfrm>
            <a:off x="0" y="628123"/>
            <a:ext cx="9144000" cy="72008"/>
          </a:xfrm>
          <a:prstGeom prst="rect">
            <a:avLst/>
          </a:prstGeom>
          <a:noFill/>
        </p:spPr>
      </p:pic>
      <p:pic>
        <p:nvPicPr>
          <p:cNvPr id="9" name="Picture 2" descr="C:\Users\yann\Desktop\aberdeen\rgu\rgulogo\bar2.png">
            <a:extLst>
              <a:ext uri="{FF2B5EF4-FFF2-40B4-BE49-F238E27FC236}">
                <a16:creationId xmlns:a16="http://schemas.microsoft.com/office/drawing/2014/main" id="{5946A8F2-15EE-6B19-40A8-38DC79C4383C}"/>
              </a:ext>
            </a:extLst>
          </p:cNvPr>
          <p:cNvPicPr>
            <a:picLocks noChangeAspect="1" noChangeArrowheads="1"/>
          </p:cNvPicPr>
          <p:nvPr/>
        </p:nvPicPr>
        <p:blipFill>
          <a:blip r:embed="rId2" cstate="print"/>
          <a:srcRect/>
          <a:stretch>
            <a:fillRect/>
          </a:stretch>
        </p:blipFill>
        <p:spPr bwMode="auto">
          <a:xfrm>
            <a:off x="0" y="4659982"/>
            <a:ext cx="9144000" cy="72008"/>
          </a:xfrm>
          <a:prstGeom prst="rect">
            <a:avLst/>
          </a:prstGeom>
          <a:noFill/>
        </p:spPr>
      </p:pic>
      <p:sp>
        <p:nvSpPr>
          <p:cNvPr id="10" name="Rectangle 9">
            <a:extLst>
              <a:ext uri="{FF2B5EF4-FFF2-40B4-BE49-F238E27FC236}">
                <a16:creationId xmlns:a16="http://schemas.microsoft.com/office/drawing/2014/main" id="{8CA44931-18F3-B8CC-CE78-1E6DD05C3634}"/>
              </a:ext>
            </a:extLst>
          </p:cNvPr>
          <p:cNvSpPr/>
          <p:nvPr/>
        </p:nvSpPr>
        <p:spPr>
          <a:xfrm>
            <a:off x="142874" y="826912"/>
            <a:ext cx="9001126" cy="3323987"/>
          </a:xfrm>
          <a:prstGeom prst="rect">
            <a:avLst/>
          </a:prstGeom>
        </p:spPr>
        <p:txBody>
          <a:bodyPr wrap="square">
            <a:spAutoFit/>
          </a:bodyPr>
          <a:lstStyle/>
          <a:p>
            <a:r>
              <a:rPr lang="en-GB" sz="1400" b="1" dirty="0"/>
              <a:t>Project description</a:t>
            </a:r>
            <a:r>
              <a:rPr lang="en-GB" sz="1400" dirty="0"/>
              <a:t>: This project aims to develop a dashboard that health professionals can use to obtain updated data (price, ingredients, carbon footprint, packaging, cooking times, amongst others) from a series of supermarket products. Users should be able to obtain periodically the most updated data and store it to perform historical comparisons. Moreover, they should be capable of filtering certain categories in and out to refine their visualisations. The system should also make use of Machine Learning models that can perform feature prediction (for instance, will the price or the demand of a certain product go up/down) considering the fundamentals of Time Series Analysis. Some of the data to be analysed will be unstructured (such as the list of ingredients, which comes as plain text); thus, there is a need to implement Natural Language Processing techniques to clean these inputs. </a:t>
            </a:r>
          </a:p>
          <a:p>
            <a:endParaRPr lang="en-GB" sz="1400" dirty="0"/>
          </a:p>
          <a:p>
            <a:r>
              <a:rPr lang="en-GB" sz="1400" b="1" dirty="0"/>
              <a:t>Skills demanded</a:t>
            </a:r>
            <a:r>
              <a:rPr lang="en-GB" sz="1400" dirty="0"/>
              <a:t>: Interest in Data Analytics and Visualisation, understanding of Time Series Analysis, Machine Learning and Natural Language Processing. Notions of R and Python are preferred, plus knowledge of dashboard development tools, such as Tableau, Power BI, Heroku, Dash </a:t>
            </a:r>
            <a:r>
              <a:rPr lang="en-GB" sz="1400" dirty="0" err="1"/>
              <a:t>Plotly</a:t>
            </a:r>
            <a:r>
              <a:rPr lang="en-GB" sz="1400" dirty="0"/>
              <a:t> or similar.</a:t>
            </a:r>
          </a:p>
          <a:p>
            <a:endParaRPr lang="en-GB" sz="1400" dirty="0"/>
          </a:p>
          <a:p>
            <a:r>
              <a:rPr lang="en-GB" sz="1400" b="1" dirty="0"/>
              <a:t>Students to accommodate</a:t>
            </a:r>
            <a:r>
              <a:rPr lang="en-GB" sz="1400" dirty="0"/>
              <a:t>: 1-2</a:t>
            </a:r>
            <a:endParaRPr lang="en-GB" altLang="zh-CN" sz="1100" dirty="0"/>
          </a:p>
        </p:txBody>
      </p:sp>
      <p:sp>
        <p:nvSpPr>
          <p:cNvPr id="11" name="Rectangle 12">
            <a:extLst>
              <a:ext uri="{FF2B5EF4-FFF2-40B4-BE49-F238E27FC236}">
                <a16:creationId xmlns:a16="http://schemas.microsoft.com/office/drawing/2014/main" id="{D5BDC76D-294A-20A8-E167-DA186CE5E761}"/>
              </a:ext>
            </a:extLst>
          </p:cNvPr>
          <p:cNvSpPr>
            <a:spLocks noChangeArrowheads="1"/>
          </p:cNvSpPr>
          <p:nvPr/>
        </p:nvSpPr>
        <p:spPr bwMode="auto">
          <a:xfrm>
            <a:off x="0" y="-14833"/>
            <a:ext cx="9144000" cy="714375"/>
          </a:xfrm>
          <a:prstGeom prst="rect">
            <a:avLst/>
          </a:prstGeom>
          <a:solidFill>
            <a:schemeClr val="accent4"/>
          </a:solidFill>
          <a:ln w="9525" algn="ctr">
            <a:noFill/>
            <a:miter lim="800000"/>
            <a:headEnd/>
            <a:tailEnd/>
          </a:ln>
        </p:spPr>
        <p:txBody>
          <a:bodyPr anchor="ctr"/>
          <a:lstStyle/>
          <a:p>
            <a:pPr algn="ctr"/>
            <a:endParaRPr lang="fr-FR" sz="1600" b="0">
              <a:solidFill>
                <a:srgbClr val="D8D4BA"/>
              </a:solidFill>
              <a:latin typeface="Trebuchet MS" pitchFamily="34" charset="0"/>
            </a:endParaRPr>
          </a:p>
        </p:txBody>
      </p:sp>
      <p:sp>
        <p:nvSpPr>
          <p:cNvPr id="12" name="Titel 4">
            <a:extLst>
              <a:ext uri="{FF2B5EF4-FFF2-40B4-BE49-F238E27FC236}">
                <a16:creationId xmlns:a16="http://schemas.microsoft.com/office/drawing/2014/main" id="{50D0FF79-D286-6E2E-BEC9-6E1F6CEF11BF}"/>
              </a:ext>
            </a:extLst>
          </p:cNvPr>
          <p:cNvSpPr txBox="1">
            <a:spLocks/>
          </p:cNvSpPr>
          <p:nvPr/>
        </p:nvSpPr>
        <p:spPr>
          <a:xfrm>
            <a:off x="142875" y="-14833"/>
            <a:ext cx="8958528" cy="762001"/>
          </a:xfrm>
          <a:prstGeom prst="rect">
            <a:avLst/>
          </a:prstGeom>
        </p:spPr>
        <p:txBody>
          <a:bodyPr/>
          <a:lstStyle/>
          <a:p>
            <a:pPr>
              <a:defRPr/>
            </a:pPr>
            <a:r>
              <a:rPr lang="en-GB" dirty="0">
                <a:solidFill>
                  <a:schemeClr val="bg1"/>
                </a:solidFill>
                <a:latin typeface="+mj-lt"/>
              </a:rPr>
              <a:t>Mining and Analysis of Supermarket Data to Understand Price, Sustainability and Dietary Trends</a:t>
            </a:r>
          </a:p>
        </p:txBody>
      </p:sp>
      <p:pic>
        <p:nvPicPr>
          <p:cNvPr id="13" name="Picture 2" descr="C:\Users\yann\Desktop\aberdeen\rgu\rgulogo\bar2.png">
            <a:extLst>
              <a:ext uri="{FF2B5EF4-FFF2-40B4-BE49-F238E27FC236}">
                <a16:creationId xmlns:a16="http://schemas.microsoft.com/office/drawing/2014/main" id="{BB40C2A1-DD6F-4248-8F22-0AECE571C9CC}"/>
              </a:ext>
            </a:extLst>
          </p:cNvPr>
          <p:cNvPicPr>
            <a:picLocks noChangeAspect="1" noChangeArrowheads="1"/>
          </p:cNvPicPr>
          <p:nvPr/>
        </p:nvPicPr>
        <p:blipFill>
          <a:blip r:embed="rId2" cstate="print"/>
          <a:srcRect/>
          <a:stretch>
            <a:fillRect/>
          </a:stretch>
        </p:blipFill>
        <p:spPr bwMode="auto">
          <a:xfrm>
            <a:off x="8531" y="603044"/>
            <a:ext cx="9144000" cy="72008"/>
          </a:xfrm>
          <a:prstGeom prst="rect">
            <a:avLst/>
          </a:prstGeom>
          <a:noFill/>
        </p:spPr>
      </p:pic>
      <p:sp>
        <p:nvSpPr>
          <p:cNvPr id="14" name="Subtitle 2">
            <a:extLst>
              <a:ext uri="{FF2B5EF4-FFF2-40B4-BE49-F238E27FC236}">
                <a16:creationId xmlns:a16="http://schemas.microsoft.com/office/drawing/2014/main" id="{9FAD8E94-DCF9-AD98-8BE6-B4B6F3A960AE}"/>
              </a:ext>
            </a:extLst>
          </p:cNvPr>
          <p:cNvSpPr txBox="1">
            <a:spLocks/>
          </p:cNvSpPr>
          <p:nvPr/>
        </p:nvSpPr>
        <p:spPr>
          <a:xfrm>
            <a:off x="48752" y="4733131"/>
            <a:ext cx="5117115" cy="36896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Verdana"/>
                <a:ea typeface="+mn-ea"/>
                <a:cs typeface="Verdana"/>
              </a:defRPr>
            </a:lvl1pPr>
            <a:lvl2pPr marL="742950" indent="-285750" algn="l" defTabSz="457200" rtl="0" eaLnBrk="1" latinLnBrk="0" hangingPunct="1">
              <a:spcBef>
                <a:spcPct val="20000"/>
              </a:spcBef>
              <a:buFont typeface="Arial"/>
              <a:buChar char="–"/>
              <a:defRPr sz="2000" kern="1200">
                <a:solidFill>
                  <a:schemeClr val="tx1"/>
                </a:solidFill>
                <a:latin typeface="Verdana"/>
                <a:ea typeface="+mn-ea"/>
                <a:cs typeface="Verdana"/>
              </a:defRPr>
            </a:lvl2pPr>
            <a:lvl3pPr marL="1143000" indent="-228600" algn="l" defTabSz="457200" rtl="0" eaLnBrk="1" latinLnBrk="0" hangingPunct="1">
              <a:spcBef>
                <a:spcPct val="20000"/>
              </a:spcBef>
              <a:buFont typeface="Arial"/>
              <a:buChar char="•"/>
              <a:defRPr sz="1800" kern="1200">
                <a:solidFill>
                  <a:schemeClr val="tx1"/>
                </a:solidFill>
                <a:latin typeface="Verdana"/>
                <a:ea typeface="+mn-ea"/>
                <a:cs typeface="Verdana"/>
              </a:defRPr>
            </a:lvl3pPr>
            <a:lvl4pPr marL="1600200" indent="-228600" algn="l" defTabSz="457200" rtl="0" eaLnBrk="1" latinLnBrk="0" hangingPunct="1">
              <a:spcBef>
                <a:spcPct val="20000"/>
              </a:spcBef>
              <a:buFont typeface="Arial"/>
              <a:buChar char="–"/>
              <a:defRPr sz="1600" kern="1200">
                <a:solidFill>
                  <a:schemeClr val="tx1"/>
                </a:solidFill>
                <a:latin typeface="Verdana"/>
                <a:ea typeface="+mn-ea"/>
                <a:cs typeface="Verdana"/>
              </a:defRPr>
            </a:lvl4pPr>
            <a:lvl5pPr marL="2057400" indent="-228600" algn="l" defTabSz="457200" rtl="0" eaLnBrk="1" latinLnBrk="0" hangingPunct="1">
              <a:spcBef>
                <a:spcPct val="20000"/>
              </a:spcBef>
              <a:buFont typeface="Arial"/>
              <a:buChar char="»"/>
              <a:defRPr sz="1400" kern="1200">
                <a:solidFill>
                  <a:schemeClr val="tx1"/>
                </a:solidFill>
                <a:latin typeface="Verdana"/>
                <a:ea typeface="+mn-ea"/>
                <a:cs typeface="Verdan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buNone/>
            </a:pPr>
            <a:r>
              <a:rPr lang="en-GB" sz="1400" dirty="0">
                <a:solidFill>
                  <a:schemeClr val="bg1"/>
                </a:solidFill>
                <a:latin typeface="+mn-lt"/>
              </a:rPr>
              <a:t>Supervisor: Carlos Moreno Garcia</a:t>
            </a:r>
            <a:endParaRPr lang="en-US" sz="1400" dirty="0">
              <a:solidFill>
                <a:schemeClr val="bg1"/>
              </a:solidFill>
              <a:latin typeface="+mn-lt"/>
            </a:endParaRPr>
          </a:p>
        </p:txBody>
      </p:sp>
    </p:spTree>
    <p:extLst>
      <p:ext uri="{BB962C8B-B14F-4D97-AF65-F5344CB8AC3E}">
        <p14:creationId xmlns:p14="http://schemas.microsoft.com/office/powerpoint/2010/main" val="726446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2"/>
          <p:cNvSpPr>
            <a:spLocks noChangeArrowheads="1"/>
          </p:cNvSpPr>
          <p:nvPr/>
        </p:nvSpPr>
        <p:spPr bwMode="auto">
          <a:xfrm>
            <a:off x="0" y="4662488"/>
            <a:ext cx="9144000" cy="481012"/>
          </a:xfrm>
          <a:prstGeom prst="rect">
            <a:avLst/>
          </a:prstGeom>
          <a:solidFill>
            <a:schemeClr val="accent4"/>
          </a:solidFill>
          <a:ln w="9525" algn="ctr">
            <a:noFill/>
            <a:miter lim="800000"/>
            <a:headEnd/>
            <a:tailEnd/>
          </a:ln>
        </p:spPr>
        <p:txBody>
          <a:bodyPr anchor="ctr"/>
          <a:lstStyle/>
          <a:p>
            <a:pPr algn="ctr"/>
            <a:endParaRPr lang="fr-FR" b="0" dirty="0">
              <a:solidFill>
                <a:srgbClr val="D8D4BA"/>
              </a:solidFill>
              <a:latin typeface="Trebuchet MS" pitchFamily="34" charset="0"/>
            </a:endParaRPr>
          </a:p>
        </p:txBody>
      </p:sp>
      <p:sp>
        <p:nvSpPr>
          <p:cNvPr id="7" name="Titel 4"/>
          <p:cNvSpPr txBox="1">
            <a:spLocks/>
          </p:cNvSpPr>
          <p:nvPr/>
        </p:nvSpPr>
        <p:spPr>
          <a:xfrm>
            <a:off x="142875" y="9549"/>
            <a:ext cx="8534400" cy="762001"/>
          </a:xfrm>
          <a:prstGeom prst="rect">
            <a:avLst/>
          </a:prstGeom>
        </p:spPr>
        <p:txBody>
          <a:bodyPr/>
          <a:lstStyle/>
          <a:p>
            <a:pPr marL="0" marR="0" lvl="0" indent="0" defTabSz="914400" rtl="0" eaLnBrk="1" fontAlgn="base" latinLnBrk="0" hangingPunct="1">
              <a:lnSpc>
                <a:spcPct val="100000"/>
              </a:lnSpc>
              <a:spcBef>
                <a:spcPct val="0"/>
              </a:spcBef>
              <a:spcAft>
                <a:spcPct val="0"/>
              </a:spcAft>
              <a:buClrTx/>
              <a:buSzTx/>
              <a:buFontTx/>
              <a:buNone/>
              <a:tabLst/>
              <a:defRPr/>
            </a:pPr>
            <a:r>
              <a:rPr lang="en-US" sz="3500" dirty="0">
                <a:solidFill>
                  <a:schemeClr val="bg1"/>
                </a:solidFill>
                <a:latin typeface="+mj-lt"/>
                <a:ea typeface="+mj-ea"/>
                <a:cs typeface="+mj-cs"/>
              </a:rPr>
              <a:t>Research Project</a:t>
            </a:r>
            <a:endParaRPr kumimoji="0" lang="en-US" sz="3500" b="0" i="0" u="none" strike="noStrike" kern="1200" cap="none" spc="0" normalizeH="0" baseline="0" noProof="0" dirty="0">
              <a:ln>
                <a:noFill/>
              </a:ln>
              <a:solidFill>
                <a:schemeClr val="bg1"/>
              </a:solidFill>
              <a:effectLst/>
              <a:uLnTx/>
              <a:uFillTx/>
              <a:latin typeface="+mj-lt"/>
              <a:ea typeface="+mj-ea"/>
              <a:cs typeface="+mj-cs"/>
            </a:endParaRPr>
          </a:p>
        </p:txBody>
      </p:sp>
      <p:pic>
        <p:nvPicPr>
          <p:cNvPr id="8" name="Picture 2" descr="C:\Users\yann\Desktop\aberdeen\rgu\rgulogo\bar2.png"/>
          <p:cNvPicPr>
            <a:picLocks noChangeAspect="1" noChangeArrowheads="1"/>
          </p:cNvPicPr>
          <p:nvPr/>
        </p:nvPicPr>
        <p:blipFill>
          <a:blip r:embed="rId3" cstate="print"/>
          <a:srcRect/>
          <a:stretch>
            <a:fillRect/>
          </a:stretch>
        </p:blipFill>
        <p:spPr bwMode="auto">
          <a:xfrm>
            <a:off x="0" y="628123"/>
            <a:ext cx="9144000" cy="72008"/>
          </a:xfrm>
          <a:prstGeom prst="rect">
            <a:avLst/>
          </a:prstGeom>
          <a:noFill/>
        </p:spPr>
      </p:pic>
      <p:pic>
        <p:nvPicPr>
          <p:cNvPr id="9" name="Picture 2" descr="C:\Users\yann\Desktop\aberdeen\rgu\rgulogo\bar2.png"/>
          <p:cNvPicPr>
            <a:picLocks noChangeAspect="1" noChangeArrowheads="1"/>
          </p:cNvPicPr>
          <p:nvPr/>
        </p:nvPicPr>
        <p:blipFill>
          <a:blip r:embed="rId3" cstate="print"/>
          <a:srcRect/>
          <a:stretch>
            <a:fillRect/>
          </a:stretch>
        </p:blipFill>
        <p:spPr bwMode="auto">
          <a:xfrm>
            <a:off x="0" y="4659982"/>
            <a:ext cx="9144000" cy="72008"/>
          </a:xfrm>
          <a:prstGeom prst="rect">
            <a:avLst/>
          </a:prstGeom>
          <a:noFill/>
        </p:spPr>
      </p:pic>
      <p:sp>
        <p:nvSpPr>
          <p:cNvPr id="11" name="Rectangle 12"/>
          <p:cNvSpPr>
            <a:spLocks noChangeArrowheads="1"/>
          </p:cNvSpPr>
          <p:nvPr/>
        </p:nvSpPr>
        <p:spPr bwMode="auto">
          <a:xfrm>
            <a:off x="0" y="-14833"/>
            <a:ext cx="9144000" cy="714375"/>
          </a:xfrm>
          <a:prstGeom prst="rect">
            <a:avLst/>
          </a:prstGeom>
          <a:solidFill>
            <a:schemeClr val="accent4"/>
          </a:solidFill>
          <a:ln w="9525" algn="ctr">
            <a:noFill/>
            <a:miter lim="800000"/>
            <a:headEnd/>
            <a:tailEnd/>
          </a:ln>
        </p:spPr>
        <p:txBody>
          <a:bodyPr anchor="ctr"/>
          <a:lstStyle/>
          <a:p>
            <a:pPr algn="ctr"/>
            <a:endParaRPr lang="fr-FR" b="0">
              <a:solidFill>
                <a:srgbClr val="D8D4BA"/>
              </a:solidFill>
              <a:latin typeface="Trebuchet MS" pitchFamily="34" charset="0"/>
            </a:endParaRPr>
          </a:p>
        </p:txBody>
      </p:sp>
      <p:sp>
        <p:nvSpPr>
          <p:cNvPr id="12" name="Titel 4"/>
          <p:cNvSpPr txBox="1">
            <a:spLocks/>
          </p:cNvSpPr>
          <p:nvPr/>
        </p:nvSpPr>
        <p:spPr>
          <a:xfrm>
            <a:off x="142875" y="-14833"/>
            <a:ext cx="8958528" cy="762001"/>
          </a:xfrm>
          <a:prstGeom prst="rect">
            <a:avLst/>
          </a:prstGeom>
        </p:spPr>
        <p:txBody>
          <a:bodyPr/>
          <a:lstStyle/>
          <a:p>
            <a:pPr>
              <a:defRPr/>
            </a:pPr>
            <a:r>
              <a:rPr lang="en-US" sz="2800" dirty="0">
                <a:solidFill>
                  <a:schemeClr val="bg1"/>
                </a:solidFill>
                <a:latin typeface="+mj-lt"/>
              </a:rPr>
              <a:t>We" vs. "Them" Language Analysis on Social Media</a:t>
            </a:r>
            <a:r>
              <a:rPr lang="zh-CN" altLang="en-US" sz="2800" dirty="0">
                <a:solidFill>
                  <a:schemeClr val="bg1"/>
                </a:solidFill>
                <a:latin typeface="+mj-lt"/>
              </a:rPr>
              <a:t>  </a:t>
            </a:r>
            <a:endParaRPr lang="en-GB" sz="2800" dirty="0">
              <a:solidFill>
                <a:schemeClr val="bg1"/>
              </a:solidFill>
              <a:latin typeface="+mj-lt"/>
            </a:endParaRPr>
          </a:p>
        </p:txBody>
      </p:sp>
      <p:pic>
        <p:nvPicPr>
          <p:cNvPr id="13" name="Picture 2" descr="C:\Users\yann\Desktop\aberdeen\rgu\rgulogo\bar2.png"/>
          <p:cNvPicPr>
            <a:picLocks noChangeAspect="1" noChangeArrowheads="1"/>
          </p:cNvPicPr>
          <p:nvPr/>
        </p:nvPicPr>
        <p:blipFill>
          <a:blip r:embed="rId3" cstate="print"/>
          <a:srcRect/>
          <a:stretch>
            <a:fillRect/>
          </a:stretch>
        </p:blipFill>
        <p:spPr bwMode="auto">
          <a:xfrm>
            <a:off x="0" y="627534"/>
            <a:ext cx="9144000" cy="72008"/>
          </a:xfrm>
          <a:prstGeom prst="rect">
            <a:avLst/>
          </a:prstGeom>
          <a:noFill/>
        </p:spPr>
      </p:pic>
      <p:sp>
        <p:nvSpPr>
          <p:cNvPr id="14" name="Subtitle 2">
            <a:extLst>
              <a:ext uri="{FF2B5EF4-FFF2-40B4-BE49-F238E27FC236}">
                <a16:creationId xmlns:a16="http://schemas.microsoft.com/office/drawing/2014/main" id="{8FE05503-C642-4B91-832A-FA4A2F8991A0}"/>
              </a:ext>
            </a:extLst>
          </p:cNvPr>
          <p:cNvSpPr txBox="1">
            <a:spLocks/>
          </p:cNvSpPr>
          <p:nvPr/>
        </p:nvSpPr>
        <p:spPr>
          <a:xfrm>
            <a:off x="48752" y="4733131"/>
            <a:ext cx="8628523" cy="36896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Verdana"/>
                <a:ea typeface="+mn-ea"/>
                <a:cs typeface="Verdana"/>
              </a:defRPr>
            </a:lvl1pPr>
            <a:lvl2pPr marL="742950" indent="-285750" algn="l" defTabSz="457200" rtl="0" eaLnBrk="1" latinLnBrk="0" hangingPunct="1">
              <a:spcBef>
                <a:spcPct val="20000"/>
              </a:spcBef>
              <a:buFont typeface="Arial"/>
              <a:buChar char="–"/>
              <a:defRPr sz="2000" kern="1200">
                <a:solidFill>
                  <a:schemeClr val="tx1"/>
                </a:solidFill>
                <a:latin typeface="Verdana"/>
                <a:ea typeface="+mn-ea"/>
                <a:cs typeface="Verdana"/>
              </a:defRPr>
            </a:lvl2pPr>
            <a:lvl3pPr marL="1143000" indent="-228600" algn="l" defTabSz="457200" rtl="0" eaLnBrk="1" latinLnBrk="0" hangingPunct="1">
              <a:spcBef>
                <a:spcPct val="20000"/>
              </a:spcBef>
              <a:buFont typeface="Arial"/>
              <a:buChar char="•"/>
              <a:defRPr sz="1800" kern="1200">
                <a:solidFill>
                  <a:schemeClr val="tx1"/>
                </a:solidFill>
                <a:latin typeface="Verdana"/>
                <a:ea typeface="+mn-ea"/>
                <a:cs typeface="Verdana"/>
              </a:defRPr>
            </a:lvl3pPr>
            <a:lvl4pPr marL="1600200" indent="-228600" algn="l" defTabSz="457200" rtl="0" eaLnBrk="1" latinLnBrk="0" hangingPunct="1">
              <a:spcBef>
                <a:spcPct val="20000"/>
              </a:spcBef>
              <a:buFont typeface="Arial"/>
              <a:buChar char="–"/>
              <a:defRPr sz="1600" kern="1200">
                <a:solidFill>
                  <a:schemeClr val="tx1"/>
                </a:solidFill>
                <a:latin typeface="Verdana"/>
                <a:ea typeface="+mn-ea"/>
                <a:cs typeface="Verdana"/>
              </a:defRPr>
            </a:lvl4pPr>
            <a:lvl5pPr marL="2057400" indent="-228600" algn="l" defTabSz="457200" rtl="0" eaLnBrk="1" latinLnBrk="0" hangingPunct="1">
              <a:spcBef>
                <a:spcPct val="20000"/>
              </a:spcBef>
              <a:buFont typeface="Arial"/>
              <a:buChar char="»"/>
              <a:defRPr sz="1400" kern="1200">
                <a:solidFill>
                  <a:schemeClr val="tx1"/>
                </a:solidFill>
                <a:latin typeface="Verdana"/>
                <a:ea typeface="+mn-ea"/>
                <a:cs typeface="Verdan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buNone/>
            </a:pPr>
            <a:r>
              <a:rPr lang="en-GB" sz="1400" dirty="0">
                <a:solidFill>
                  <a:schemeClr val="bg1"/>
                </a:solidFill>
                <a:latin typeface="+mn-lt"/>
              </a:rPr>
              <a:t>Supervisor: </a:t>
            </a:r>
            <a:r>
              <a:rPr lang="en-US" sz="1400" dirty="0">
                <a:solidFill>
                  <a:schemeClr val="bg1"/>
                </a:solidFill>
                <a:latin typeface="+mn-lt"/>
              </a:rPr>
              <a:t>Shahana Bano</a:t>
            </a:r>
          </a:p>
        </p:txBody>
      </p:sp>
      <p:sp>
        <p:nvSpPr>
          <p:cNvPr id="2" name="Content Placeholder 2">
            <a:extLst>
              <a:ext uri="{FF2B5EF4-FFF2-40B4-BE49-F238E27FC236}">
                <a16:creationId xmlns:a16="http://schemas.microsoft.com/office/drawing/2014/main" id="{01FD454F-B9FF-FC9A-E621-76C06AF3A1C7}"/>
              </a:ext>
            </a:extLst>
          </p:cNvPr>
          <p:cNvSpPr>
            <a:spLocks noGrp="1"/>
          </p:cNvSpPr>
          <p:nvPr>
            <p:ph idx="1"/>
          </p:nvPr>
        </p:nvSpPr>
        <p:spPr>
          <a:xfrm>
            <a:off x="83816" y="795932"/>
            <a:ext cx="8880672" cy="3504010"/>
          </a:xfrm>
        </p:spPr>
        <p:txBody>
          <a:bodyPr anchor="ctr">
            <a:normAutofit/>
          </a:bodyPr>
          <a:lstStyle/>
          <a:p>
            <a:r>
              <a:rPr lang="en-US" sz="1600" b="0" i="0" dirty="0">
                <a:effectLst/>
                <a:latin typeface="-apple-system"/>
              </a:rPr>
              <a:t>We" vs. "Them" Language Analysis</a:t>
            </a:r>
          </a:p>
          <a:p>
            <a:r>
              <a:rPr lang="en-US" sz="1600" b="0" i="0" dirty="0">
                <a:effectLst/>
                <a:latin typeface="-apple-system"/>
              </a:rPr>
              <a:t>Objective: Analyze social media posts to understand how "we" and "them" language is used to construct group identities and define enemies.</a:t>
            </a:r>
          </a:p>
          <a:p>
            <a:r>
              <a:rPr lang="en-US" sz="1600" b="0" i="0" dirty="0">
                <a:effectLst/>
                <a:latin typeface="-apple-system"/>
              </a:rPr>
              <a:t>Tools: NLP and text analysis software. </a:t>
            </a:r>
            <a:endParaRPr lang="en-US" sz="1600" dirty="0">
              <a:latin typeface="-apple-system"/>
            </a:endParaRPr>
          </a:p>
          <a:p>
            <a:r>
              <a:rPr lang="en-US" sz="1600" b="0" i="0" dirty="0">
                <a:effectLst/>
                <a:latin typeface="-apple-system"/>
              </a:rPr>
              <a:t>Process: - </a:t>
            </a:r>
          </a:p>
          <a:p>
            <a:pPr lvl="1"/>
            <a:r>
              <a:rPr lang="en-US" sz="1200" b="0" i="0" dirty="0">
                <a:effectLst/>
                <a:latin typeface="-apple-system"/>
              </a:rPr>
              <a:t>Data Collection: Gather a large dataset of social media posts from various platforms. –</a:t>
            </a:r>
          </a:p>
          <a:p>
            <a:pPr lvl="1"/>
            <a:r>
              <a:rPr lang="en-US" sz="1200" b="0" i="0" dirty="0">
                <a:effectLst/>
                <a:latin typeface="-apple-system"/>
              </a:rPr>
              <a:t>Analysis: Identify and categorize posts using "we" and "them" language. Examine the context and sentiment of these posts. </a:t>
            </a:r>
            <a:endParaRPr lang="en-US" sz="1200" dirty="0">
              <a:latin typeface="-apple-system"/>
            </a:endParaRPr>
          </a:p>
          <a:p>
            <a:pPr lvl="1"/>
            <a:r>
              <a:rPr lang="en-US" sz="1200" b="0" i="0" dirty="0">
                <a:effectLst/>
                <a:latin typeface="-apple-system"/>
              </a:rPr>
              <a:t>Outcome: Insights into how different groups use language to establish "otherness" and promote distrust. </a:t>
            </a:r>
            <a:br>
              <a:rPr lang="en-US" sz="1200" dirty="0"/>
            </a:br>
            <a:endParaRPr lang="en-GB" sz="1200" dirty="0"/>
          </a:p>
        </p:txBody>
      </p:sp>
    </p:spTree>
    <p:extLst>
      <p:ext uri="{BB962C8B-B14F-4D97-AF65-F5344CB8AC3E}">
        <p14:creationId xmlns:p14="http://schemas.microsoft.com/office/powerpoint/2010/main" val="583252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2"/>
          <p:cNvSpPr>
            <a:spLocks noChangeArrowheads="1"/>
          </p:cNvSpPr>
          <p:nvPr/>
        </p:nvSpPr>
        <p:spPr bwMode="auto">
          <a:xfrm>
            <a:off x="0" y="4662488"/>
            <a:ext cx="9144000" cy="481012"/>
          </a:xfrm>
          <a:prstGeom prst="rect">
            <a:avLst/>
          </a:prstGeom>
          <a:solidFill>
            <a:schemeClr val="accent4"/>
          </a:solidFill>
          <a:ln w="9525" algn="ctr">
            <a:noFill/>
            <a:miter lim="800000"/>
            <a:headEnd/>
            <a:tailEnd/>
          </a:ln>
        </p:spPr>
        <p:txBody>
          <a:bodyPr anchor="ctr"/>
          <a:lstStyle/>
          <a:p>
            <a:pPr algn="ctr"/>
            <a:endParaRPr lang="fr-FR" b="0" dirty="0">
              <a:solidFill>
                <a:srgbClr val="D8D4BA"/>
              </a:solidFill>
              <a:latin typeface="Trebuchet MS" pitchFamily="34" charset="0"/>
            </a:endParaRPr>
          </a:p>
        </p:txBody>
      </p:sp>
      <p:sp>
        <p:nvSpPr>
          <p:cNvPr id="7" name="Titel 4"/>
          <p:cNvSpPr txBox="1">
            <a:spLocks/>
          </p:cNvSpPr>
          <p:nvPr/>
        </p:nvSpPr>
        <p:spPr>
          <a:xfrm>
            <a:off x="142875" y="9549"/>
            <a:ext cx="8534400" cy="762001"/>
          </a:xfrm>
          <a:prstGeom prst="rect">
            <a:avLst/>
          </a:prstGeom>
        </p:spPr>
        <p:txBody>
          <a:bodyPr/>
          <a:lstStyle/>
          <a:p>
            <a:pPr marL="0" marR="0" lvl="0" indent="0" defTabSz="914400" rtl="0" eaLnBrk="1" fontAlgn="base" latinLnBrk="0" hangingPunct="1">
              <a:lnSpc>
                <a:spcPct val="100000"/>
              </a:lnSpc>
              <a:spcBef>
                <a:spcPct val="0"/>
              </a:spcBef>
              <a:spcAft>
                <a:spcPct val="0"/>
              </a:spcAft>
              <a:buClrTx/>
              <a:buSzTx/>
              <a:buFontTx/>
              <a:buNone/>
              <a:tabLst/>
              <a:defRPr/>
            </a:pPr>
            <a:r>
              <a:rPr lang="en-US" sz="3500" dirty="0">
                <a:solidFill>
                  <a:schemeClr val="bg1"/>
                </a:solidFill>
                <a:latin typeface="+mj-lt"/>
                <a:ea typeface="+mj-ea"/>
                <a:cs typeface="+mj-cs"/>
              </a:rPr>
              <a:t>Research Project</a:t>
            </a:r>
            <a:endParaRPr kumimoji="0" lang="en-US" sz="3500" b="0" i="0" u="none" strike="noStrike" kern="1200" cap="none" spc="0" normalizeH="0" baseline="0" noProof="0" dirty="0">
              <a:ln>
                <a:noFill/>
              </a:ln>
              <a:solidFill>
                <a:schemeClr val="bg1"/>
              </a:solidFill>
              <a:effectLst/>
              <a:uLnTx/>
              <a:uFillTx/>
              <a:latin typeface="+mj-lt"/>
              <a:ea typeface="+mj-ea"/>
              <a:cs typeface="+mj-cs"/>
            </a:endParaRPr>
          </a:p>
        </p:txBody>
      </p:sp>
      <p:pic>
        <p:nvPicPr>
          <p:cNvPr id="8" name="Picture 2" descr="C:\Users\yann\Desktop\aberdeen\rgu\rgulogo\bar2.png"/>
          <p:cNvPicPr>
            <a:picLocks noChangeAspect="1" noChangeArrowheads="1"/>
          </p:cNvPicPr>
          <p:nvPr/>
        </p:nvPicPr>
        <p:blipFill>
          <a:blip r:embed="rId2" cstate="print"/>
          <a:srcRect/>
          <a:stretch>
            <a:fillRect/>
          </a:stretch>
        </p:blipFill>
        <p:spPr bwMode="auto">
          <a:xfrm>
            <a:off x="0" y="628123"/>
            <a:ext cx="9144000" cy="72008"/>
          </a:xfrm>
          <a:prstGeom prst="rect">
            <a:avLst/>
          </a:prstGeom>
          <a:noFill/>
        </p:spPr>
      </p:pic>
      <p:pic>
        <p:nvPicPr>
          <p:cNvPr id="9" name="Picture 2" descr="C:\Users\yann\Desktop\aberdeen\rgu\rgulogo\bar2.png"/>
          <p:cNvPicPr>
            <a:picLocks noChangeAspect="1" noChangeArrowheads="1"/>
          </p:cNvPicPr>
          <p:nvPr/>
        </p:nvPicPr>
        <p:blipFill>
          <a:blip r:embed="rId2" cstate="print"/>
          <a:srcRect/>
          <a:stretch>
            <a:fillRect/>
          </a:stretch>
        </p:blipFill>
        <p:spPr bwMode="auto">
          <a:xfrm>
            <a:off x="0" y="4659982"/>
            <a:ext cx="9144000" cy="72008"/>
          </a:xfrm>
          <a:prstGeom prst="rect">
            <a:avLst/>
          </a:prstGeom>
          <a:noFill/>
        </p:spPr>
      </p:pic>
      <p:sp>
        <p:nvSpPr>
          <p:cNvPr id="11" name="Rectangle 12"/>
          <p:cNvSpPr>
            <a:spLocks noChangeArrowheads="1"/>
          </p:cNvSpPr>
          <p:nvPr/>
        </p:nvSpPr>
        <p:spPr bwMode="auto">
          <a:xfrm>
            <a:off x="0" y="-14833"/>
            <a:ext cx="9144000" cy="714375"/>
          </a:xfrm>
          <a:prstGeom prst="rect">
            <a:avLst/>
          </a:prstGeom>
          <a:solidFill>
            <a:schemeClr val="accent4"/>
          </a:solidFill>
          <a:ln w="9525" algn="ctr">
            <a:noFill/>
            <a:miter lim="800000"/>
            <a:headEnd/>
            <a:tailEnd/>
          </a:ln>
        </p:spPr>
        <p:txBody>
          <a:bodyPr anchor="ctr"/>
          <a:lstStyle/>
          <a:p>
            <a:pPr algn="ctr"/>
            <a:endParaRPr lang="fr-FR" b="0">
              <a:solidFill>
                <a:srgbClr val="D8D4BA"/>
              </a:solidFill>
              <a:latin typeface="Trebuchet MS" pitchFamily="34" charset="0"/>
            </a:endParaRPr>
          </a:p>
        </p:txBody>
      </p:sp>
      <p:sp>
        <p:nvSpPr>
          <p:cNvPr id="12" name="Titel 4"/>
          <p:cNvSpPr txBox="1">
            <a:spLocks/>
          </p:cNvSpPr>
          <p:nvPr/>
        </p:nvSpPr>
        <p:spPr>
          <a:xfrm>
            <a:off x="142875" y="-14833"/>
            <a:ext cx="8958528" cy="762001"/>
          </a:xfrm>
          <a:prstGeom prst="rect">
            <a:avLst/>
          </a:prstGeom>
        </p:spPr>
        <p:txBody>
          <a:bodyPr/>
          <a:lstStyle/>
          <a:p>
            <a:pPr>
              <a:defRPr/>
            </a:pPr>
            <a:r>
              <a:rPr lang="en-GB" sz="2000" dirty="0" err="1">
                <a:solidFill>
                  <a:schemeClr val="bg1"/>
                </a:solidFill>
                <a:latin typeface="+mj-lt"/>
              </a:rPr>
              <a:t>SoSAct</a:t>
            </a:r>
            <a:r>
              <a:rPr lang="en-GB" sz="2000" dirty="0">
                <a:solidFill>
                  <a:schemeClr val="bg1"/>
                </a:solidFill>
                <a:latin typeface="+mj-lt"/>
              </a:rPr>
              <a:t>: Leveraging Software Security and AI to Safeguard People from Cyber Terrorism</a:t>
            </a:r>
            <a:br>
              <a:rPr lang="en-GB" sz="2000" dirty="0">
                <a:effectLst/>
                <a:latin typeface="Aptos" panose="020B0004020202020204" pitchFamily="34" charset="0"/>
                <a:ea typeface="Aptos" panose="020B0004020202020204" pitchFamily="34" charset="0"/>
                <a:cs typeface="Aptos" panose="020B0004020202020204" pitchFamily="34" charset="0"/>
              </a:rPr>
            </a:br>
            <a:endParaRPr lang="en-GB"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3" name="Picture 2" descr="C:\Users\yann\Desktop\aberdeen\rgu\rgulogo\bar2.png"/>
          <p:cNvPicPr>
            <a:picLocks noChangeAspect="1" noChangeArrowheads="1"/>
          </p:cNvPicPr>
          <p:nvPr/>
        </p:nvPicPr>
        <p:blipFill>
          <a:blip r:embed="rId2" cstate="print"/>
          <a:srcRect/>
          <a:stretch>
            <a:fillRect/>
          </a:stretch>
        </p:blipFill>
        <p:spPr bwMode="auto">
          <a:xfrm>
            <a:off x="0" y="627534"/>
            <a:ext cx="9144000" cy="72008"/>
          </a:xfrm>
          <a:prstGeom prst="rect">
            <a:avLst/>
          </a:prstGeom>
          <a:noFill/>
        </p:spPr>
      </p:pic>
      <p:sp>
        <p:nvSpPr>
          <p:cNvPr id="14" name="Subtitle 2">
            <a:extLst>
              <a:ext uri="{FF2B5EF4-FFF2-40B4-BE49-F238E27FC236}">
                <a16:creationId xmlns:a16="http://schemas.microsoft.com/office/drawing/2014/main" id="{8FE05503-C642-4B91-832A-FA4A2F8991A0}"/>
              </a:ext>
            </a:extLst>
          </p:cNvPr>
          <p:cNvSpPr txBox="1">
            <a:spLocks/>
          </p:cNvSpPr>
          <p:nvPr/>
        </p:nvSpPr>
        <p:spPr>
          <a:xfrm>
            <a:off x="48752" y="4733131"/>
            <a:ext cx="5117115" cy="36896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Verdana"/>
                <a:ea typeface="+mn-ea"/>
                <a:cs typeface="Verdana"/>
              </a:defRPr>
            </a:lvl1pPr>
            <a:lvl2pPr marL="742950" indent="-285750" algn="l" defTabSz="457200" rtl="0" eaLnBrk="1" latinLnBrk="0" hangingPunct="1">
              <a:spcBef>
                <a:spcPct val="20000"/>
              </a:spcBef>
              <a:buFont typeface="Arial"/>
              <a:buChar char="–"/>
              <a:defRPr sz="2000" kern="1200">
                <a:solidFill>
                  <a:schemeClr val="tx1"/>
                </a:solidFill>
                <a:latin typeface="Verdana"/>
                <a:ea typeface="+mn-ea"/>
                <a:cs typeface="Verdana"/>
              </a:defRPr>
            </a:lvl2pPr>
            <a:lvl3pPr marL="1143000" indent="-228600" algn="l" defTabSz="457200" rtl="0" eaLnBrk="1" latinLnBrk="0" hangingPunct="1">
              <a:spcBef>
                <a:spcPct val="20000"/>
              </a:spcBef>
              <a:buFont typeface="Arial"/>
              <a:buChar char="•"/>
              <a:defRPr sz="1800" kern="1200">
                <a:solidFill>
                  <a:schemeClr val="tx1"/>
                </a:solidFill>
                <a:latin typeface="Verdana"/>
                <a:ea typeface="+mn-ea"/>
                <a:cs typeface="Verdana"/>
              </a:defRPr>
            </a:lvl3pPr>
            <a:lvl4pPr marL="1600200" indent="-228600" algn="l" defTabSz="457200" rtl="0" eaLnBrk="1" latinLnBrk="0" hangingPunct="1">
              <a:spcBef>
                <a:spcPct val="20000"/>
              </a:spcBef>
              <a:buFont typeface="Arial"/>
              <a:buChar char="–"/>
              <a:defRPr sz="1600" kern="1200">
                <a:solidFill>
                  <a:schemeClr val="tx1"/>
                </a:solidFill>
                <a:latin typeface="Verdana"/>
                <a:ea typeface="+mn-ea"/>
                <a:cs typeface="Verdana"/>
              </a:defRPr>
            </a:lvl4pPr>
            <a:lvl5pPr marL="2057400" indent="-228600" algn="l" defTabSz="457200" rtl="0" eaLnBrk="1" latinLnBrk="0" hangingPunct="1">
              <a:spcBef>
                <a:spcPct val="20000"/>
              </a:spcBef>
              <a:buFont typeface="Arial"/>
              <a:buChar char="»"/>
              <a:defRPr sz="1400" kern="1200">
                <a:solidFill>
                  <a:schemeClr val="tx1"/>
                </a:solidFill>
                <a:latin typeface="Verdana"/>
                <a:ea typeface="+mn-ea"/>
                <a:cs typeface="Verdan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buNone/>
            </a:pPr>
            <a:r>
              <a:rPr lang="en-GB" sz="1400" dirty="0">
                <a:solidFill>
                  <a:schemeClr val="bg1"/>
                </a:solidFill>
                <a:latin typeface="+mn-lt"/>
              </a:rPr>
              <a:t>Supervisor: </a:t>
            </a:r>
            <a:r>
              <a:rPr lang="en-US" sz="1400" dirty="0">
                <a:solidFill>
                  <a:schemeClr val="bg1"/>
                </a:solidFill>
                <a:latin typeface="+mn-lt"/>
              </a:rPr>
              <a:t>Janaka Senanayake</a:t>
            </a:r>
          </a:p>
        </p:txBody>
      </p:sp>
      <p:sp>
        <p:nvSpPr>
          <p:cNvPr id="16" name="object 10">
            <a:extLst>
              <a:ext uri="{FF2B5EF4-FFF2-40B4-BE49-F238E27FC236}">
                <a16:creationId xmlns:a16="http://schemas.microsoft.com/office/drawing/2014/main" id="{9771FE18-AFF4-2849-4FFE-D38CF0166F57}"/>
              </a:ext>
            </a:extLst>
          </p:cNvPr>
          <p:cNvSpPr txBox="1"/>
          <p:nvPr/>
        </p:nvSpPr>
        <p:spPr>
          <a:xfrm>
            <a:off x="103060" y="803150"/>
            <a:ext cx="3902393" cy="3749520"/>
          </a:xfrm>
          <a:prstGeom prst="rect">
            <a:avLst/>
          </a:prstGeom>
        </p:spPr>
        <p:txBody>
          <a:bodyPr vert="horz" wrap="square" lIns="0" tIns="30004" rIns="0" bIns="0" rtlCol="0">
            <a:spAutoFit/>
          </a:bodyPr>
          <a:lstStyle/>
          <a:p>
            <a:pPr marL="9049" marR="3810" indent="3810" algn="ctr">
              <a:lnSpc>
                <a:spcPct val="90000"/>
              </a:lnSpc>
              <a:spcBef>
                <a:spcPts val="236"/>
              </a:spcBef>
            </a:pPr>
            <a:r>
              <a:rPr sz="1350" dirty="0">
                <a:latin typeface="Calibri"/>
                <a:cs typeface="Calibri"/>
              </a:rPr>
              <a:t>The</a:t>
            </a:r>
            <a:r>
              <a:rPr sz="1350" spc="19" dirty="0">
                <a:latin typeface="Calibri"/>
                <a:cs typeface="Calibri"/>
              </a:rPr>
              <a:t> </a:t>
            </a:r>
            <a:r>
              <a:rPr sz="1350" dirty="0">
                <a:latin typeface="Calibri"/>
                <a:cs typeface="Calibri"/>
              </a:rPr>
              <a:t>rapid</a:t>
            </a:r>
            <a:r>
              <a:rPr sz="1350" spc="23" dirty="0">
                <a:latin typeface="Calibri"/>
                <a:cs typeface="Calibri"/>
              </a:rPr>
              <a:t> </a:t>
            </a:r>
            <a:r>
              <a:rPr sz="1350" dirty="0">
                <a:latin typeface="Calibri"/>
                <a:cs typeface="Calibri"/>
              </a:rPr>
              <a:t>growth</a:t>
            </a:r>
            <a:r>
              <a:rPr sz="1350" spc="11" dirty="0">
                <a:latin typeface="Calibri"/>
                <a:cs typeface="Calibri"/>
              </a:rPr>
              <a:t> </a:t>
            </a:r>
            <a:r>
              <a:rPr sz="1350" dirty="0">
                <a:latin typeface="Calibri"/>
                <a:cs typeface="Calibri"/>
              </a:rPr>
              <a:t>of</a:t>
            </a:r>
            <a:r>
              <a:rPr sz="1350" spc="8" dirty="0">
                <a:latin typeface="Calibri"/>
                <a:cs typeface="Calibri"/>
              </a:rPr>
              <a:t> </a:t>
            </a:r>
            <a:r>
              <a:rPr sz="1350" dirty="0">
                <a:latin typeface="Calibri"/>
                <a:cs typeface="Calibri"/>
              </a:rPr>
              <a:t>digital</a:t>
            </a:r>
            <a:r>
              <a:rPr sz="1350" spc="26" dirty="0">
                <a:latin typeface="Calibri"/>
                <a:cs typeface="Calibri"/>
              </a:rPr>
              <a:t> </a:t>
            </a:r>
            <a:r>
              <a:rPr sz="1350" spc="38" dirty="0">
                <a:latin typeface="Calibri"/>
                <a:cs typeface="Calibri"/>
              </a:rPr>
              <a:t>technologies</a:t>
            </a:r>
            <a:r>
              <a:rPr sz="1350" spc="4" dirty="0">
                <a:latin typeface="Calibri"/>
                <a:cs typeface="Calibri"/>
              </a:rPr>
              <a:t> </a:t>
            </a:r>
            <a:r>
              <a:rPr sz="1350" spc="53" dirty="0">
                <a:latin typeface="Calibri"/>
                <a:cs typeface="Calibri"/>
              </a:rPr>
              <a:t>has </a:t>
            </a:r>
            <a:r>
              <a:rPr sz="1350" spc="15" dirty="0">
                <a:latin typeface="Calibri"/>
                <a:cs typeface="Calibri"/>
              </a:rPr>
              <a:t>significantly</a:t>
            </a:r>
            <a:r>
              <a:rPr sz="1350" spc="79" dirty="0">
                <a:latin typeface="Calibri"/>
                <a:cs typeface="Calibri"/>
              </a:rPr>
              <a:t> </a:t>
            </a:r>
            <a:r>
              <a:rPr sz="1350" spc="15" dirty="0">
                <a:latin typeface="Calibri"/>
                <a:cs typeface="Calibri"/>
              </a:rPr>
              <a:t>transformed</a:t>
            </a:r>
            <a:r>
              <a:rPr sz="1350" spc="120" dirty="0">
                <a:latin typeface="Calibri"/>
                <a:cs typeface="Calibri"/>
              </a:rPr>
              <a:t> </a:t>
            </a:r>
            <a:r>
              <a:rPr sz="1350" spc="15" dirty="0">
                <a:latin typeface="Calibri"/>
                <a:cs typeface="Calibri"/>
              </a:rPr>
              <a:t>modern-day</a:t>
            </a:r>
            <a:r>
              <a:rPr sz="1350" spc="127" dirty="0">
                <a:latin typeface="Calibri"/>
                <a:cs typeface="Calibri"/>
              </a:rPr>
              <a:t> </a:t>
            </a:r>
            <a:r>
              <a:rPr sz="1350" spc="-8" dirty="0">
                <a:latin typeface="Calibri"/>
                <a:cs typeface="Calibri"/>
              </a:rPr>
              <a:t>terrorism. Terrorist</a:t>
            </a:r>
            <a:r>
              <a:rPr sz="1350" spc="4" dirty="0">
                <a:latin typeface="Calibri"/>
                <a:cs typeface="Calibri"/>
              </a:rPr>
              <a:t> </a:t>
            </a:r>
            <a:r>
              <a:rPr sz="1350" spc="34" dirty="0">
                <a:latin typeface="Calibri"/>
                <a:cs typeface="Calibri"/>
              </a:rPr>
              <a:t>organisations</a:t>
            </a:r>
            <a:r>
              <a:rPr sz="1350" spc="-15" dirty="0">
                <a:latin typeface="Calibri"/>
                <a:cs typeface="Calibri"/>
              </a:rPr>
              <a:t> </a:t>
            </a:r>
            <a:r>
              <a:rPr sz="1350" dirty="0">
                <a:latin typeface="Calibri"/>
                <a:cs typeface="Calibri"/>
              </a:rPr>
              <a:t>now</a:t>
            </a:r>
            <a:r>
              <a:rPr sz="1350" spc="-8" dirty="0">
                <a:latin typeface="Calibri"/>
                <a:cs typeface="Calibri"/>
              </a:rPr>
              <a:t> </a:t>
            </a:r>
            <a:r>
              <a:rPr sz="1350" dirty="0">
                <a:latin typeface="Calibri"/>
                <a:cs typeface="Calibri"/>
              </a:rPr>
              <a:t>exploit</a:t>
            </a:r>
            <a:r>
              <a:rPr sz="1350" spc="8" dirty="0">
                <a:latin typeface="Calibri"/>
                <a:cs typeface="Calibri"/>
              </a:rPr>
              <a:t> </a:t>
            </a:r>
            <a:r>
              <a:rPr sz="1350" dirty="0">
                <a:latin typeface="Calibri"/>
                <a:cs typeface="Calibri"/>
              </a:rPr>
              <a:t>the</a:t>
            </a:r>
            <a:r>
              <a:rPr sz="1350" spc="23" dirty="0">
                <a:latin typeface="Calibri"/>
                <a:cs typeface="Calibri"/>
              </a:rPr>
              <a:t> </a:t>
            </a:r>
            <a:r>
              <a:rPr sz="1350" dirty="0">
                <a:latin typeface="Calibri"/>
                <a:cs typeface="Calibri"/>
              </a:rPr>
              <a:t>internet</a:t>
            </a:r>
            <a:r>
              <a:rPr sz="1350" spc="11" dirty="0">
                <a:latin typeface="Calibri"/>
                <a:cs typeface="Calibri"/>
              </a:rPr>
              <a:t> </a:t>
            </a:r>
            <a:r>
              <a:rPr sz="1350" spc="26" dirty="0">
                <a:latin typeface="Calibri"/>
                <a:cs typeface="Calibri"/>
              </a:rPr>
              <a:t>and </a:t>
            </a:r>
            <a:r>
              <a:rPr sz="1350" spc="15" dirty="0">
                <a:latin typeface="Calibri"/>
                <a:cs typeface="Calibri"/>
              </a:rPr>
              <a:t>software</a:t>
            </a:r>
            <a:r>
              <a:rPr sz="1350" spc="38" dirty="0">
                <a:latin typeface="Calibri"/>
                <a:cs typeface="Calibri"/>
              </a:rPr>
              <a:t> </a:t>
            </a:r>
            <a:r>
              <a:rPr sz="1350" spc="15" dirty="0">
                <a:latin typeface="Calibri"/>
                <a:cs typeface="Calibri"/>
              </a:rPr>
              <a:t>vulnerabilities</a:t>
            </a:r>
            <a:r>
              <a:rPr sz="1350" dirty="0">
                <a:latin typeface="Calibri"/>
                <a:cs typeface="Calibri"/>
              </a:rPr>
              <a:t> </a:t>
            </a:r>
            <a:r>
              <a:rPr sz="1350" spc="15" dirty="0">
                <a:latin typeface="Calibri"/>
                <a:cs typeface="Calibri"/>
              </a:rPr>
              <a:t>to</a:t>
            </a:r>
            <a:r>
              <a:rPr sz="1350" spc="49" dirty="0">
                <a:latin typeface="Calibri"/>
                <a:cs typeface="Calibri"/>
              </a:rPr>
              <a:t> </a:t>
            </a:r>
            <a:r>
              <a:rPr sz="1350" spc="15" dirty="0">
                <a:latin typeface="Calibri"/>
                <a:cs typeface="Calibri"/>
              </a:rPr>
              <a:t>coordinate</a:t>
            </a:r>
            <a:r>
              <a:rPr sz="1350" spc="26" dirty="0">
                <a:latin typeface="Calibri"/>
                <a:cs typeface="Calibri"/>
              </a:rPr>
              <a:t> </a:t>
            </a:r>
            <a:r>
              <a:rPr sz="1350" spc="49" dirty="0">
                <a:latin typeface="Calibri"/>
                <a:cs typeface="Calibri"/>
              </a:rPr>
              <a:t>attacks,</a:t>
            </a:r>
            <a:r>
              <a:rPr sz="1350" spc="71" dirty="0">
                <a:latin typeface="Calibri"/>
                <a:cs typeface="Calibri"/>
              </a:rPr>
              <a:t> </a:t>
            </a:r>
            <a:r>
              <a:rPr sz="1350" spc="-8" dirty="0">
                <a:latin typeface="Calibri"/>
                <a:cs typeface="Calibri"/>
              </a:rPr>
              <a:t>recruit </a:t>
            </a:r>
            <a:r>
              <a:rPr sz="1350" spc="41" dirty="0">
                <a:latin typeface="Calibri"/>
                <a:cs typeface="Calibri"/>
              </a:rPr>
              <a:t>members,</a:t>
            </a:r>
            <a:r>
              <a:rPr sz="1350" spc="34" dirty="0">
                <a:latin typeface="Calibri"/>
                <a:cs typeface="Calibri"/>
              </a:rPr>
              <a:t> </a:t>
            </a:r>
            <a:r>
              <a:rPr sz="1350" spc="41" dirty="0">
                <a:latin typeface="Calibri"/>
                <a:cs typeface="Calibri"/>
              </a:rPr>
              <a:t>spread</a:t>
            </a:r>
            <a:r>
              <a:rPr sz="1350" spc="53" dirty="0">
                <a:latin typeface="Calibri"/>
                <a:cs typeface="Calibri"/>
              </a:rPr>
              <a:t> </a:t>
            </a:r>
            <a:r>
              <a:rPr sz="1350" spc="15" dirty="0">
                <a:latin typeface="Calibri"/>
                <a:cs typeface="Calibri"/>
              </a:rPr>
              <a:t>propaganda,</a:t>
            </a:r>
            <a:r>
              <a:rPr sz="1350" spc="34" dirty="0">
                <a:latin typeface="Calibri"/>
                <a:cs typeface="Calibri"/>
              </a:rPr>
              <a:t> </a:t>
            </a:r>
            <a:r>
              <a:rPr sz="1350" spc="41" dirty="0">
                <a:latin typeface="Calibri"/>
                <a:cs typeface="Calibri"/>
              </a:rPr>
              <a:t>and</a:t>
            </a:r>
            <a:r>
              <a:rPr sz="1350" spc="30" dirty="0">
                <a:latin typeface="Calibri"/>
                <a:cs typeface="Calibri"/>
              </a:rPr>
              <a:t> </a:t>
            </a:r>
            <a:r>
              <a:rPr sz="1350" spc="15" dirty="0">
                <a:latin typeface="Calibri"/>
                <a:cs typeface="Calibri"/>
              </a:rPr>
              <a:t>evade</a:t>
            </a:r>
            <a:r>
              <a:rPr sz="1350" spc="30" dirty="0">
                <a:latin typeface="Calibri"/>
                <a:cs typeface="Calibri"/>
              </a:rPr>
              <a:t> </a:t>
            </a:r>
            <a:r>
              <a:rPr sz="1350" spc="-8" dirty="0">
                <a:latin typeface="Calibri"/>
                <a:cs typeface="Calibri"/>
              </a:rPr>
              <a:t>detection </a:t>
            </a:r>
            <a:r>
              <a:rPr sz="1350" dirty="0">
                <a:latin typeface="Calibri"/>
                <a:cs typeface="Calibri"/>
              </a:rPr>
              <a:t>by</a:t>
            </a:r>
            <a:r>
              <a:rPr sz="1350" spc="-19" dirty="0">
                <a:latin typeface="Calibri"/>
                <a:cs typeface="Calibri"/>
              </a:rPr>
              <a:t> </a:t>
            </a:r>
            <a:r>
              <a:rPr sz="1350" spc="38" dirty="0">
                <a:latin typeface="Calibri"/>
                <a:cs typeface="Calibri"/>
              </a:rPr>
              <a:t>law</a:t>
            </a:r>
            <a:r>
              <a:rPr sz="1350" spc="-19" dirty="0">
                <a:latin typeface="Calibri"/>
                <a:cs typeface="Calibri"/>
              </a:rPr>
              <a:t> </a:t>
            </a:r>
            <a:r>
              <a:rPr sz="1350" spc="-8" dirty="0">
                <a:latin typeface="Calibri"/>
                <a:cs typeface="Calibri"/>
              </a:rPr>
              <a:t>enforcement.</a:t>
            </a:r>
            <a:endParaRPr lang="en-GB" sz="1350" spc="-8" dirty="0">
              <a:latin typeface="Calibri"/>
              <a:cs typeface="Calibri"/>
            </a:endParaRPr>
          </a:p>
          <a:p>
            <a:pPr marL="9049" marR="3810" indent="3810" algn="ctr">
              <a:lnSpc>
                <a:spcPct val="90000"/>
              </a:lnSpc>
              <a:spcBef>
                <a:spcPts val="236"/>
              </a:spcBef>
            </a:pPr>
            <a:endParaRPr sz="1350" dirty="0">
              <a:latin typeface="Calibri"/>
              <a:cs typeface="Calibri"/>
            </a:endParaRPr>
          </a:p>
          <a:p>
            <a:pPr marL="22860" marR="16669" algn="ctr">
              <a:lnSpc>
                <a:spcPct val="90000"/>
              </a:lnSpc>
              <a:spcBef>
                <a:spcPts val="236"/>
              </a:spcBef>
            </a:pPr>
            <a:r>
              <a:rPr sz="1350" spc="15" dirty="0">
                <a:latin typeface="Calibri"/>
                <a:cs typeface="Calibri"/>
              </a:rPr>
              <a:t>Counterterrorism</a:t>
            </a:r>
            <a:r>
              <a:rPr sz="1350" spc="41" dirty="0">
                <a:latin typeface="Calibri"/>
                <a:cs typeface="Calibri"/>
              </a:rPr>
              <a:t> </a:t>
            </a:r>
            <a:r>
              <a:rPr sz="1350" spc="15" dirty="0">
                <a:latin typeface="Calibri"/>
                <a:cs typeface="Calibri"/>
              </a:rPr>
              <a:t>strategies</a:t>
            </a:r>
            <a:r>
              <a:rPr sz="1350" spc="49" dirty="0">
                <a:latin typeface="Calibri"/>
                <a:cs typeface="Calibri"/>
              </a:rPr>
              <a:t> </a:t>
            </a:r>
            <a:r>
              <a:rPr sz="1350" spc="15" dirty="0">
                <a:latin typeface="Calibri"/>
                <a:cs typeface="Calibri"/>
              </a:rPr>
              <a:t>have</a:t>
            </a:r>
            <a:r>
              <a:rPr sz="1350" spc="30" dirty="0">
                <a:latin typeface="Calibri"/>
                <a:cs typeface="Calibri"/>
              </a:rPr>
              <a:t> </a:t>
            </a:r>
            <a:r>
              <a:rPr sz="1350" spc="15" dirty="0">
                <a:latin typeface="Calibri"/>
                <a:cs typeface="Calibri"/>
              </a:rPr>
              <a:t>evolved to</a:t>
            </a:r>
            <a:r>
              <a:rPr sz="1350" spc="53" dirty="0">
                <a:latin typeface="Calibri"/>
                <a:cs typeface="Calibri"/>
              </a:rPr>
              <a:t> </a:t>
            </a:r>
            <a:r>
              <a:rPr sz="1350" spc="38" dirty="0">
                <a:latin typeface="Calibri"/>
                <a:cs typeface="Calibri"/>
              </a:rPr>
              <a:t>include</a:t>
            </a:r>
            <a:r>
              <a:rPr lang="en-GB" sz="1350" spc="38" dirty="0">
                <a:latin typeface="Calibri"/>
                <a:cs typeface="Calibri"/>
              </a:rPr>
              <a:t> </a:t>
            </a:r>
            <a:r>
              <a:rPr lang="en-GB" sz="1350" dirty="0">
                <a:latin typeface="Calibri"/>
                <a:cs typeface="Calibri"/>
              </a:rPr>
              <a:t>digital</a:t>
            </a:r>
            <a:r>
              <a:rPr lang="en-GB" sz="1350" spc="41" dirty="0">
                <a:latin typeface="Calibri"/>
                <a:cs typeface="Calibri"/>
              </a:rPr>
              <a:t> and </a:t>
            </a:r>
            <a:r>
              <a:rPr lang="en-GB" sz="1350" dirty="0">
                <a:latin typeface="Calibri"/>
                <a:cs typeface="Calibri"/>
              </a:rPr>
              <a:t>cyber</a:t>
            </a:r>
            <a:r>
              <a:rPr lang="en-GB" sz="1350" spc="41" dirty="0">
                <a:latin typeface="Calibri"/>
                <a:cs typeface="Calibri"/>
              </a:rPr>
              <a:t> </a:t>
            </a:r>
            <a:r>
              <a:rPr lang="en-GB" sz="1350" spc="38" dirty="0" err="1">
                <a:latin typeface="Calibri"/>
                <a:cs typeface="Calibri"/>
              </a:rPr>
              <a:t>defense</a:t>
            </a:r>
            <a:r>
              <a:rPr lang="en-GB" sz="1350" spc="41" dirty="0">
                <a:latin typeface="Calibri"/>
                <a:cs typeface="Calibri"/>
              </a:rPr>
              <a:t> </a:t>
            </a:r>
            <a:r>
              <a:rPr lang="en-GB" sz="1350" spc="64" dirty="0">
                <a:latin typeface="Calibri"/>
                <a:cs typeface="Calibri"/>
              </a:rPr>
              <a:t>mechanisms.</a:t>
            </a:r>
            <a:r>
              <a:rPr lang="en-GB" sz="1350" spc="19" dirty="0">
                <a:latin typeface="Calibri"/>
                <a:cs typeface="Calibri"/>
              </a:rPr>
              <a:t> </a:t>
            </a:r>
            <a:r>
              <a:rPr lang="en-GB" sz="1350" dirty="0">
                <a:latin typeface="Calibri"/>
                <a:cs typeface="Calibri"/>
              </a:rPr>
              <a:t>However,</a:t>
            </a:r>
            <a:r>
              <a:rPr lang="en-GB" sz="1350" spc="30" dirty="0">
                <a:latin typeface="Calibri"/>
                <a:cs typeface="Calibri"/>
              </a:rPr>
              <a:t> </a:t>
            </a:r>
            <a:r>
              <a:rPr lang="en-GB" sz="1350" spc="79" dirty="0">
                <a:latin typeface="Calibri"/>
                <a:cs typeface="Calibri"/>
              </a:rPr>
              <a:t>as </a:t>
            </a:r>
            <a:r>
              <a:rPr lang="en-GB" sz="1350" spc="8" dirty="0">
                <a:latin typeface="Calibri"/>
                <a:cs typeface="Calibri"/>
              </a:rPr>
              <a:t>software</a:t>
            </a:r>
            <a:r>
              <a:rPr lang="en-GB" sz="1350" spc="30" dirty="0">
                <a:latin typeface="Calibri"/>
                <a:cs typeface="Calibri"/>
              </a:rPr>
              <a:t> </a:t>
            </a:r>
            <a:r>
              <a:rPr lang="en-GB" sz="1350" spc="60" dirty="0">
                <a:latin typeface="Calibri"/>
                <a:cs typeface="Calibri"/>
              </a:rPr>
              <a:t>ecosystems</a:t>
            </a:r>
            <a:r>
              <a:rPr lang="en-GB" sz="1350" spc="38" dirty="0">
                <a:latin typeface="Calibri"/>
                <a:cs typeface="Calibri"/>
              </a:rPr>
              <a:t> </a:t>
            </a:r>
            <a:r>
              <a:rPr lang="en-GB" sz="1350" dirty="0">
                <a:latin typeface="Calibri"/>
                <a:cs typeface="Calibri"/>
              </a:rPr>
              <a:t>grow</a:t>
            </a:r>
            <a:r>
              <a:rPr lang="en-GB" sz="1350" spc="30" dirty="0">
                <a:latin typeface="Calibri"/>
                <a:cs typeface="Calibri"/>
              </a:rPr>
              <a:t> </a:t>
            </a:r>
            <a:r>
              <a:rPr lang="en-GB" sz="1350" spc="8" dirty="0">
                <a:latin typeface="Calibri"/>
                <a:cs typeface="Calibri"/>
              </a:rPr>
              <a:t>in</a:t>
            </a:r>
            <a:r>
              <a:rPr lang="en-GB" sz="1350" spc="23" dirty="0">
                <a:latin typeface="Calibri"/>
                <a:cs typeface="Calibri"/>
              </a:rPr>
              <a:t> </a:t>
            </a:r>
            <a:r>
              <a:rPr lang="en-GB" sz="1350" spc="8" dirty="0">
                <a:latin typeface="Calibri"/>
                <a:cs typeface="Calibri"/>
              </a:rPr>
              <a:t>complexity,</a:t>
            </a:r>
            <a:r>
              <a:rPr lang="en-GB" sz="1350" spc="34" dirty="0">
                <a:latin typeface="Calibri"/>
                <a:cs typeface="Calibri"/>
              </a:rPr>
              <a:t> </a:t>
            </a:r>
            <a:r>
              <a:rPr lang="en-GB" sz="1350" spc="-15" dirty="0">
                <a:latin typeface="Calibri"/>
                <a:cs typeface="Calibri"/>
              </a:rPr>
              <a:t>they </a:t>
            </a:r>
            <a:r>
              <a:rPr lang="en-GB" sz="1350" spc="56" dirty="0">
                <a:latin typeface="Calibri"/>
                <a:cs typeface="Calibri"/>
              </a:rPr>
              <a:t>become </a:t>
            </a:r>
            <a:r>
              <a:rPr lang="en-GB" sz="1350" spc="38" dirty="0">
                <a:latin typeface="Calibri"/>
                <a:cs typeface="Calibri"/>
              </a:rPr>
              <a:t>increasingly</a:t>
            </a:r>
            <a:r>
              <a:rPr lang="en-GB" sz="1350" spc="34" dirty="0">
                <a:latin typeface="Calibri"/>
                <a:cs typeface="Calibri"/>
              </a:rPr>
              <a:t> </a:t>
            </a:r>
            <a:r>
              <a:rPr lang="en-GB" sz="1350" dirty="0">
                <a:latin typeface="Calibri"/>
                <a:cs typeface="Calibri"/>
              </a:rPr>
              <a:t>vulnerable</a:t>
            </a:r>
            <a:r>
              <a:rPr lang="en-GB" sz="1350" spc="38" dirty="0">
                <a:latin typeface="Calibri"/>
                <a:cs typeface="Calibri"/>
              </a:rPr>
              <a:t> </a:t>
            </a:r>
            <a:r>
              <a:rPr lang="en-GB" sz="1350" dirty="0">
                <a:latin typeface="Calibri"/>
                <a:cs typeface="Calibri"/>
              </a:rPr>
              <a:t>to</a:t>
            </a:r>
            <a:r>
              <a:rPr lang="en-GB" sz="1350" spc="68" dirty="0">
                <a:latin typeface="Calibri"/>
                <a:cs typeface="Calibri"/>
              </a:rPr>
              <a:t> </a:t>
            </a:r>
            <a:r>
              <a:rPr lang="en-GB" sz="1350" dirty="0">
                <a:latin typeface="Calibri"/>
                <a:cs typeface="Calibri"/>
              </a:rPr>
              <a:t>exploitation</a:t>
            </a:r>
            <a:r>
              <a:rPr lang="en-GB" sz="1350" spc="49" dirty="0">
                <a:latin typeface="Calibri"/>
                <a:cs typeface="Calibri"/>
              </a:rPr>
              <a:t> </a:t>
            </a:r>
            <a:r>
              <a:rPr lang="en-GB" sz="1350" spc="-19" dirty="0">
                <a:latin typeface="Calibri"/>
                <a:cs typeface="Calibri"/>
              </a:rPr>
              <a:t>by </a:t>
            </a:r>
            <a:r>
              <a:rPr lang="en-GB" sz="1350" spc="56" dirty="0">
                <a:latin typeface="Calibri"/>
                <a:cs typeface="Calibri"/>
              </a:rPr>
              <a:t>malicious</a:t>
            </a:r>
            <a:r>
              <a:rPr lang="en-GB" sz="1350" spc="-30" dirty="0">
                <a:latin typeface="Calibri"/>
                <a:cs typeface="Calibri"/>
              </a:rPr>
              <a:t> </a:t>
            </a:r>
            <a:r>
              <a:rPr lang="en-GB" sz="1350" spc="38" dirty="0">
                <a:latin typeface="Calibri"/>
                <a:cs typeface="Calibri"/>
              </a:rPr>
              <a:t>actors.</a:t>
            </a:r>
          </a:p>
          <a:p>
            <a:pPr marL="22860" marR="16669" algn="ctr">
              <a:lnSpc>
                <a:spcPct val="90000"/>
              </a:lnSpc>
              <a:spcBef>
                <a:spcPts val="236"/>
              </a:spcBef>
            </a:pPr>
            <a:endParaRPr lang="en-GB" sz="1350" dirty="0">
              <a:latin typeface="Calibri"/>
              <a:cs typeface="Calibri"/>
            </a:endParaRPr>
          </a:p>
          <a:p>
            <a:pPr marL="9525" marR="3810" indent="3810" algn="ctr">
              <a:lnSpc>
                <a:spcPct val="90000"/>
              </a:lnSpc>
              <a:spcBef>
                <a:spcPts val="746"/>
              </a:spcBef>
            </a:pPr>
            <a:r>
              <a:rPr lang="en-GB" sz="1350" spc="38" dirty="0">
                <a:latin typeface="Calibri"/>
                <a:cs typeface="Calibri"/>
              </a:rPr>
              <a:t>This</a:t>
            </a:r>
            <a:r>
              <a:rPr lang="en-GB" sz="1350" spc="8" dirty="0">
                <a:latin typeface="Calibri"/>
                <a:cs typeface="Calibri"/>
              </a:rPr>
              <a:t> </a:t>
            </a:r>
            <a:r>
              <a:rPr lang="en-GB" sz="1350" dirty="0">
                <a:latin typeface="Calibri"/>
                <a:cs typeface="Calibri"/>
              </a:rPr>
              <a:t>project</a:t>
            </a:r>
            <a:r>
              <a:rPr lang="en-GB" sz="1350" spc="19" dirty="0">
                <a:latin typeface="Calibri"/>
                <a:cs typeface="Calibri"/>
              </a:rPr>
              <a:t> </a:t>
            </a:r>
            <a:r>
              <a:rPr lang="en-GB" sz="1350" spc="45" dirty="0">
                <a:latin typeface="Calibri"/>
                <a:cs typeface="Calibri"/>
              </a:rPr>
              <a:t>named</a:t>
            </a:r>
            <a:r>
              <a:rPr lang="en-GB" sz="1350" spc="30" dirty="0">
                <a:latin typeface="Calibri"/>
                <a:cs typeface="Calibri"/>
              </a:rPr>
              <a:t> </a:t>
            </a:r>
            <a:r>
              <a:rPr lang="en-GB" sz="1350" spc="98" dirty="0">
                <a:latin typeface="Calibri"/>
                <a:cs typeface="Calibri"/>
              </a:rPr>
              <a:t>as</a:t>
            </a:r>
            <a:r>
              <a:rPr lang="en-GB" sz="1350" spc="30" dirty="0">
                <a:latin typeface="Calibri"/>
                <a:cs typeface="Calibri"/>
              </a:rPr>
              <a:t> </a:t>
            </a:r>
            <a:r>
              <a:rPr lang="en-GB" sz="1350" b="1" i="1" spc="101" dirty="0" err="1">
                <a:latin typeface="Calibri"/>
                <a:cs typeface="Calibri"/>
              </a:rPr>
              <a:t>SoSAct</a:t>
            </a:r>
            <a:r>
              <a:rPr lang="en-GB" sz="1350" b="1" i="1" spc="23" dirty="0">
                <a:latin typeface="Calibri"/>
                <a:cs typeface="Calibri"/>
              </a:rPr>
              <a:t> </a:t>
            </a:r>
            <a:r>
              <a:rPr lang="en-GB" sz="1350" dirty="0">
                <a:latin typeface="Calibri"/>
                <a:cs typeface="Calibri"/>
              </a:rPr>
              <a:t>will</a:t>
            </a:r>
            <a:r>
              <a:rPr lang="en-GB" sz="1350" spc="11" dirty="0">
                <a:latin typeface="Calibri"/>
                <a:cs typeface="Calibri"/>
              </a:rPr>
              <a:t> </a:t>
            </a:r>
            <a:r>
              <a:rPr lang="en-GB" sz="1350" dirty="0">
                <a:latin typeface="Calibri"/>
                <a:cs typeface="Calibri"/>
              </a:rPr>
              <a:t>explore</a:t>
            </a:r>
            <a:r>
              <a:rPr lang="en-GB" sz="1350" spc="19" dirty="0">
                <a:latin typeface="Calibri"/>
                <a:cs typeface="Calibri"/>
              </a:rPr>
              <a:t> </a:t>
            </a:r>
            <a:r>
              <a:rPr lang="en-GB" sz="1350" spc="-19" dirty="0">
                <a:latin typeface="Calibri"/>
                <a:cs typeface="Calibri"/>
              </a:rPr>
              <a:t>the </a:t>
            </a:r>
            <a:r>
              <a:rPr lang="en-GB" sz="1350" dirty="0">
                <a:latin typeface="Calibri"/>
                <a:cs typeface="Calibri"/>
              </a:rPr>
              <a:t>current</a:t>
            </a:r>
            <a:r>
              <a:rPr lang="en-GB" sz="1350" spc="30" dirty="0">
                <a:latin typeface="Calibri"/>
                <a:cs typeface="Calibri"/>
              </a:rPr>
              <a:t> </a:t>
            </a:r>
            <a:r>
              <a:rPr lang="en-GB" sz="1350" spc="49" dirty="0">
                <a:latin typeface="Calibri"/>
                <a:cs typeface="Calibri"/>
              </a:rPr>
              <a:t>challenges</a:t>
            </a:r>
            <a:r>
              <a:rPr lang="en-GB" sz="1350" spc="15" dirty="0">
                <a:latin typeface="Calibri"/>
                <a:cs typeface="Calibri"/>
              </a:rPr>
              <a:t> </a:t>
            </a:r>
            <a:r>
              <a:rPr lang="en-GB" sz="1350" dirty="0">
                <a:latin typeface="Calibri"/>
                <a:cs typeface="Calibri"/>
              </a:rPr>
              <a:t>in</a:t>
            </a:r>
            <a:r>
              <a:rPr lang="en-GB" sz="1350" spc="23" dirty="0">
                <a:latin typeface="Calibri"/>
                <a:cs typeface="Calibri"/>
              </a:rPr>
              <a:t> </a:t>
            </a:r>
            <a:r>
              <a:rPr lang="en-GB" sz="1350" dirty="0">
                <a:latin typeface="Calibri"/>
                <a:cs typeface="Calibri"/>
              </a:rPr>
              <a:t>software</a:t>
            </a:r>
            <a:r>
              <a:rPr lang="en-GB" sz="1350" spc="41" dirty="0">
                <a:latin typeface="Calibri"/>
                <a:cs typeface="Calibri"/>
              </a:rPr>
              <a:t> </a:t>
            </a:r>
            <a:r>
              <a:rPr lang="en-GB" sz="1350" spc="38" dirty="0">
                <a:latin typeface="Calibri"/>
                <a:cs typeface="Calibri"/>
              </a:rPr>
              <a:t>security</a:t>
            </a:r>
            <a:r>
              <a:rPr lang="en-GB" sz="1350" spc="23" dirty="0">
                <a:latin typeface="Calibri"/>
                <a:cs typeface="Calibri"/>
              </a:rPr>
              <a:t> </a:t>
            </a:r>
            <a:r>
              <a:rPr lang="en-GB" sz="1350" dirty="0">
                <a:latin typeface="Calibri"/>
                <a:cs typeface="Calibri"/>
              </a:rPr>
              <a:t>that</a:t>
            </a:r>
            <a:r>
              <a:rPr lang="en-GB" sz="1350" spc="45" dirty="0">
                <a:latin typeface="Calibri"/>
                <a:cs typeface="Calibri"/>
              </a:rPr>
              <a:t> </a:t>
            </a:r>
            <a:r>
              <a:rPr lang="en-GB" sz="1350" spc="-8" dirty="0">
                <a:latin typeface="Calibri"/>
                <a:cs typeface="Calibri"/>
              </a:rPr>
              <a:t>threaten </a:t>
            </a:r>
            <a:r>
              <a:rPr lang="en-GB" sz="1350" spc="8" dirty="0">
                <a:latin typeface="Calibri"/>
                <a:cs typeface="Calibri"/>
              </a:rPr>
              <a:t>the</a:t>
            </a:r>
            <a:r>
              <a:rPr lang="en-GB" sz="1350" spc="30" dirty="0">
                <a:latin typeface="Calibri"/>
                <a:cs typeface="Calibri"/>
              </a:rPr>
              <a:t> </a:t>
            </a:r>
            <a:r>
              <a:rPr lang="en-GB" sz="1350" spc="8" dirty="0">
                <a:latin typeface="Calibri"/>
                <a:cs typeface="Calibri"/>
              </a:rPr>
              <a:t>counterterrorism</a:t>
            </a:r>
            <a:r>
              <a:rPr lang="en-GB" sz="1350" spc="15" dirty="0">
                <a:latin typeface="Calibri"/>
                <a:cs typeface="Calibri"/>
              </a:rPr>
              <a:t> </a:t>
            </a:r>
            <a:r>
              <a:rPr lang="en-GB" sz="1350" spc="8" dirty="0">
                <a:latin typeface="Calibri"/>
                <a:cs typeface="Calibri"/>
              </a:rPr>
              <a:t>efforts</a:t>
            </a:r>
            <a:r>
              <a:rPr lang="en-GB" sz="1350" spc="30" dirty="0">
                <a:latin typeface="Calibri"/>
                <a:cs typeface="Calibri"/>
              </a:rPr>
              <a:t> </a:t>
            </a:r>
            <a:r>
              <a:rPr lang="en-GB" sz="1350" spc="45" dirty="0">
                <a:latin typeface="Calibri"/>
                <a:cs typeface="Calibri"/>
              </a:rPr>
              <a:t>and</a:t>
            </a:r>
            <a:r>
              <a:rPr lang="en-GB" sz="1350" spc="19" dirty="0">
                <a:latin typeface="Calibri"/>
                <a:cs typeface="Calibri"/>
              </a:rPr>
              <a:t> </a:t>
            </a:r>
            <a:r>
              <a:rPr lang="en-GB" sz="1350" spc="38" dirty="0">
                <a:latin typeface="Calibri"/>
                <a:cs typeface="Calibri"/>
              </a:rPr>
              <a:t>propose</a:t>
            </a:r>
            <a:r>
              <a:rPr lang="en-GB" sz="1350" spc="26" dirty="0">
                <a:latin typeface="Calibri"/>
                <a:cs typeface="Calibri"/>
              </a:rPr>
              <a:t> </a:t>
            </a:r>
            <a:r>
              <a:rPr lang="en-GB" sz="1350" spc="-8" dirty="0">
                <a:latin typeface="Calibri"/>
                <a:cs typeface="Calibri"/>
              </a:rPr>
              <a:t>innovative </a:t>
            </a:r>
            <a:r>
              <a:rPr lang="en-GB" sz="1350" spc="49" dirty="0">
                <a:latin typeface="Calibri"/>
                <a:cs typeface="Calibri"/>
              </a:rPr>
              <a:t>solutions</a:t>
            </a:r>
            <a:r>
              <a:rPr lang="en-GB" sz="1350" spc="-38" dirty="0">
                <a:latin typeface="Calibri"/>
                <a:cs typeface="Calibri"/>
              </a:rPr>
              <a:t> </a:t>
            </a:r>
            <a:r>
              <a:rPr lang="en-GB" sz="1350" dirty="0">
                <a:latin typeface="Calibri"/>
                <a:cs typeface="Calibri"/>
              </a:rPr>
              <a:t>to mitigate</a:t>
            </a:r>
            <a:r>
              <a:rPr lang="en-GB" sz="1350" spc="-4" dirty="0">
                <a:latin typeface="Calibri"/>
                <a:cs typeface="Calibri"/>
              </a:rPr>
              <a:t> </a:t>
            </a:r>
            <a:r>
              <a:rPr lang="en-GB" sz="1350" spc="41" dirty="0">
                <a:latin typeface="Calibri"/>
                <a:cs typeface="Calibri"/>
              </a:rPr>
              <a:t>these</a:t>
            </a:r>
            <a:r>
              <a:rPr lang="en-GB" sz="1350" spc="-4" dirty="0">
                <a:latin typeface="Calibri"/>
                <a:cs typeface="Calibri"/>
              </a:rPr>
              <a:t> </a:t>
            </a:r>
            <a:r>
              <a:rPr lang="en-GB" sz="1350" spc="49" dirty="0">
                <a:latin typeface="Calibri"/>
                <a:cs typeface="Calibri"/>
              </a:rPr>
              <a:t>risks.</a:t>
            </a:r>
            <a:r>
              <a:rPr lang="en-GB" sz="1350" spc="-11" dirty="0">
                <a:latin typeface="Calibri"/>
                <a:cs typeface="Calibri"/>
              </a:rPr>
              <a:t> </a:t>
            </a:r>
            <a:r>
              <a:rPr lang="en-GB" sz="1350" b="1" spc="90" dirty="0" err="1">
                <a:latin typeface="Calibri"/>
                <a:cs typeface="Calibri"/>
              </a:rPr>
              <a:t>SoSAct</a:t>
            </a:r>
            <a:r>
              <a:rPr lang="en-GB" sz="1350" b="1" spc="-23" dirty="0">
                <a:latin typeface="Calibri"/>
                <a:cs typeface="Calibri"/>
              </a:rPr>
              <a:t> </a:t>
            </a:r>
            <a:r>
              <a:rPr lang="en-GB" sz="1350" spc="68" dirty="0">
                <a:latin typeface="Calibri"/>
                <a:cs typeface="Calibri"/>
              </a:rPr>
              <a:t>is</a:t>
            </a:r>
            <a:r>
              <a:rPr lang="en-GB" sz="1350" spc="-4" dirty="0">
                <a:latin typeface="Calibri"/>
                <a:cs typeface="Calibri"/>
              </a:rPr>
              <a:t> </a:t>
            </a:r>
            <a:r>
              <a:rPr lang="en-GB" sz="1350" spc="49" dirty="0">
                <a:latin typeface="Calibri"/>
                <a:cs typeface="Calibri"/>
              </a:rPr>
              <a:t>also </a:t>
            </a:r>
            <a:r>
              <a:rPr lang="en-GB" sz="1350" dirty="0">
                <a:latin typeface="Calibri"/>
                <a:cs typeface="Calibri"/>
              </a:rPr>
              <a:t>going</a:t>
            </a:r>
            <a:r>
              <a:rPr lang="en-GB" sz="1350" spc="-34" dirty="0">
                <a:latin typeface="Calibri"/>
                <a:cs typeface="Calibri"/>
              </a:rPr>
              <a:t> </a:t>
            </a:r>
            <a:r>
              <a:rPr lang="en-GB" sz="1350" dirty="0">
                <a:latin typeface="Calibri"/>
                <a:cs typeface="Calibri"/>
              </a:rPr>
              <a:t>to</a:t>
            </a:r>
            <a:r>
              <a:rPr lang="en-GB" sz="1350" spc="-4" dirty="0">
                <a:latin typeface="Calibri"/>
                <a:cs typeface="Calibri"/>
              </a:rPr>
              <a:t> </a:t>
            </a:r>
            <a:r>
              <a:rPr lang="en-GB" sz="1350" spc="53" dirty="0">
                <a:latin typeface="Calibri"/>
                <a:cs typeface="Calibri"/>
              </a:rPr>
              <a:t>address</a:t>
            </a:r>
            <a:r>
              <a:rPr lang="en-GB" sz="1350" spc="-4" dirty="0">
                <a:latin typeface="Calibri"/>
                <a:cs typeface="Calibri"/>
              </a:rPr>
              <a:t> </a:t>
            </a:r>
            <a:r>
              <a:rPr lang="en-GB" sz="1350" spc="41" dirty="0">
                <a:latin typeface="Calibri"/>
                <a:cs typeface="Calibri"/>
              </a:rPr>
              <a:t>these</a:t>
            </a:r>
            <a:r>
              <a:rPr lang="en-GB" sz="1350" dirty="0">
                <a:latin typeface="Calibri"/>
                <a:cs typeface="Calibri"/>
              </a:rPr>
              <a:t> </a:t>
            </a:r>
            <a:r>
              <a:rPr lang="en-GB" sz="1350" spc="49" dirty="0">
                <a:latin typeface="Calibri"/>
                <a:cs typeface="Calibri"/>
              </a:rPr>
              <a:t>challenges</a:t>
            </a:r>
            <a:r>
              <a:rPr lang="en-GB" sz="1350" spc="-34" dirty="0">
                <a:latin typeface="Calibri"/>
                <a:cs typeface="Calibri"/>
              </a:rPr>
              <a:t> </a:t>
            </a:r>
            <a:r>
              <a:rPr lang="en-GB" sz="1350" spc="41" dirty="0">
                <a:latin typeface="Calibri"/>
                <a:cs typeface="Calibri"/>
              </a:rPr>
              <a:t>using</a:t>
            </a:r>
            <a:r>
              <a:rPr lang="en-GB" sz="1350" spc="-30" dirty="0">
                <a:latin typeface="Calibri"/>
                <a:cs typeface="Calibri"/>
              </a:rPr>
              <a:t> </a:t>
            </a:r>
            <a:r>
              <a:rPr lang="en-GB" sz="1350" dirty="0">
                <a:latin typeface="Calibri"/>
                <a:cs typeface="Calibri"/>
              </a:rPr>
              <a:t>AI</a:t>
            </a:r>
            <a:r>
              <a:rPr lang="en-GB" sz="1350" spc="-19" dirty="0">
                <a:latin typeface="Calibri"/>
                <a:cs typeface="Calibri"/>
              </a:rPr>
              <a:t> </a:t>
            </a:r>
            <a:r>
              <a:rPr lang="en-GB" sz="1350" spc="-8" dirty="0">
                <a:latin typeface="Calibri"/>
                <a:cs typeface="Calibri"/>
              </a:rPr>
              <a:t>driven </a:t>
            </a:r>
            <a:r>
              <a:rPr lang="en-GB" sz="1350" spc="41" dirty="0">
                <a:latin typeface="Calibri"/>
                <a:cs typeface="Calibri"/>
              </a:rPr>
              <a:t>techniques</a:t>
            </a:r>
            <a:r>
              <a:rPr lang="en-GB" sz="1350" spc="-19" dirty="0">
                <a:latin typeface="Calibri"/>
                <a:cs typeface="Calibri"/>
              </a:rPr>
              <a:t> </a:t>
            </a:r>
            <a:r>
              <a:rPr lang="en-GB" sz="1350" dirty="0">
                <a:latin typeface="Calibri"/>
                <a:cs typeface="Calibri"/>
              </a:rPr>
              <a:t>to</a:t>
            </a:r>
            <a:r>
              <a:rPr lang="en-GB" sz="1350" spc="-19" dirty="0">
                <a:latin typeface="Calibri"/>
                <a:cs typeface="Calibri"/>
              </a:rPr>
              <a:t> </a:t>
            </a:r>
            <a:r>
              <a:rPr lang="en-GB" sz="1350" spc="49" dirty="0">
                <a:latin typeface="Calibri"/>
                <a:cs typeface="Calibri"/>
              </a:rPr>
              <a:t>enhance</a:t>
            </a:r>
            <a:r>
              <a:rPr lang="en-GB" sz="1350" spc="-30" dirty="0">
                <a:latin typeface="Calibri"/>
                <a:cs typeface="Calibri"/>
              </a:rPr>
              <a:t> </a:t>
            </a:r>
            <a:r>
              <a:rPr lang="en-GB" sz="1350" dirty="0">
                <a:latin typeface="Calibri"/>
                <a:cs typeface="Calibri"/>
              </a:rPr>
              <a:t>the</a:t>
            </a:r>
            <a:r>
              <a:rPr lang="en-GB" sz="1350" spc="-8" dirty="0">
                <a:latin typeface="Calibri"/>
                <a:cs typeface="Calibri"/>
              </a:rPr>
              <a:t> </a:t>
            </a:r>
            <a:r>
              <a:rPr lang="en-GB" sz="1350" spc="38" dirty="0">
                <a:latin typeface="Calibri"/>
                <a:cs typeface="Calibri"/>
              </a:rPr>
              <a:t>security</a:t>
            </a:r>
            <a:r>
              <a:rPr lang="en-GB" sz="1350" spc="-19" dirty="0">
                <a:latin typeface="Calibri"/>
                <a:cs typeface="Calibri"/>
              </a:rPr>
              <a:t> </a:t>
            </a:r>
            <a:r>
              <a:rPr lang="en-GB" sz="1350" dirty="0">
                <a:latin typeface="Calibri"/>
                <a:cs typeface="Calibri"/>
              </a:rPr>
              <a:t>of</a:t>
            </a:r>
            <a:r>
              <a:rPr lang="en-GB" sz="1350" spc="-34" dirty="0">
                <a:latin typeface="Calibri"/>
                <a:cs typeface="Calibri"/>
              </a:rPr>
              <a:t> </a:t>
            </a:r>
            <a:r>
              <a:rPr lang="en-GB" sz="1350" dirty="0">
                <a:latin typeface="Calibri"/>
                <a:cs typeface="Calibri"/>
              </a:rPr>
              <a:t>the</a:t>
            </a:r>
            <a:r>
              <a:rPr lang="en-GB" sz="1350" spc="-19" dirty="0">
                <a:latin typeface="Calibri"/>
                <a:cs typeface="Calibri"/>
              </a:rPr>
              <a:t> </a:t>
            </a:r>
            <a:r>
              <a:rPr lang="en-GB" sz="1350" spc="-8" dirty="0">
                <a:latin typeface="Calibri"/>
                <a:cs typeface="Calibri"/>
              </a:rPr>
              <a:t>software.</a:t>
            </a:r>
            <a:endParaRPr lang="en-GB" sz="1350" dirty="0">
              <a:latin typeface="Calibri"/>
              <a:cs typeface="Calibri"/>
            </a:endParaRPr>
          </a:p>
        </p:txBody>
      </p:sp>
      <p:sp>
        <p:nvSpPr>
          <p:cNvPr id="18" name="object 12">
            <a:extLst>
              <a:ext uri="{FF2B5EF4-FFF2-40B4-BE49-F238E27FC236}">
                <a16:creationId xmlns:a16="http://schemas.microsoft.com/office/drawing/2014/main" id="{8F43E51E-CD75-7444-2DD3-D9E27F0C1E9C}"/>
              </a:ext>
            </a:extLst>
          </p:cNvPr>
          <p:cNvSpPr txBox="1"/>
          <p:nvPr/>
        </p:nvSpPr>
        <p:spPr>
          <a:xfrm>
            <a:off x="4113753" y="2736062"/>
            <a:ext cx="1160621" cy="1508458"/>
          </a:xfrm>
          <a:prstGeom prst="rect">
            <a:avLst/>
          </a:prstGeom>
          <a:solidFill>
            <a:srgbClr val="F7D4CD">
              <a:alpha val="90194"/>
            </a:srgbClr>
          </a:solidFill>
          <a:ln w="19050">
            <a:solidFill>
              <a:srgbClr val="F7D4CD"/>
            </a:solidFill>
          </a:ln>
        </p:spPr>
        <p:txBody>
          <a:bodyPr vert="horz" wrap="square" lIns="0" tIns="84296" rIns="0" bIns="0" rtlCol="0">
            <a:spAutoFit/>
          </a:bodyPr>
          <a:lstStyle/>
          <a:p>
            <a:pPr marL="91916" marR="400050">
              <a:lnSpc>
                <a:spcPts val="1155"/>
              </a:lnSpc>
              <a:spcBef>
                <a:spcPts val="664"/>
              </a:spcBef>
            </a:pPr>
            <a:r>
              <a:rPr sz="1050" dirty="0">
                <a:latin typeface="Calibri"/>
                <a:cs typeface="Calibri"/>
              </a:rPr>
              <a:t>Identify</a:t>
            </a:r>
            <a:r>
              <a:rPr sz="1050" spc="41" dirty="0">
                <a:latin typeface="Calibri"/>
                <a:cs typeface="Calibri"/>
              </a:rPr>
              <a:t> </a:t>
            </a:r>
            <a:r>
              <a:rPr sz="1050" spc="-19" dirty="0">
                <a:latin typeface="Calibri"/>
                <a:cs typeface="Calibri"/>
              </a:rPr>
              <a:t>Key </a:t>
            </a:r>
            <a:r>
              <a:rPr sz="1050" spc="-8" dirty="0">
                <a:latin typeface="Calibri"/>
                <a:cs typeface="Calibri"/>
              </a:rPr>
              <a:t>Threats:</a:t>
            </a:r>
            <a:endParaRPr sz="1050" dirty="0">
              <a:latin typeface="Calibri"/>
              <a:cs typeface="Calibri"/>
            </a:endParaRPr>
          </a:p>
          <a:p>
            <a:pPr marL="135731" marR="145733" indent="-52388">
              <a:lnSpc>
                <a:spcPct val="91500"/>
              </a:lnSpc>
              <a:spcBef>
                <a:spcPts val="450"/>
              </a:spcBef>
              <a:buSzPct val="90909"/>
              <a:buChar char="•"/>
              <a:tabLst>
                <a:tab pos="135731" algn="l"/>
                <a:tab pos="140494" algn="l"/>
              </a:tabLst>
            </a:pPr>
            <a:r>
              <a:rPr sz="825" dirty="0">
                <a:latin typeface="Calibri"/>
                <a:cs typeface="Calibri"/>
              </a:rPr>
              <a:t>	Analyze</a:t>
            </a:r>
            <a:r>
              <a:rPr sz="825" spc="113" dirty="0">
                <a:latin typeface="Calibri"/>
                <a:cs typeface="Calibri"/>
              </a:rPr>
              <a:t> </a:t>
            </a:r>
            <a:r>
              <a:rPr sz="825" spc="-8" dirty="0">
                <a:latin typeface="Calibri"/>
                <a:cs typeface="Calibri"/>
              </a:rPr>
              <a:t>current software </a:t>
            </a:r>
            <a:r>
              <a:rPr sz="825" spc="15" dirty="0">
                <a:latin typeface="Calibri"/>
                <a:cs typeface="Calibri"/>
              </a:rPr>
              <a:t>vulnerabilities</a:t>
            </a:r>
            <a:r>
              <a:rPr sz="825" dirty="0">
                <a:latin typeface="Calibri"/>
                <a:cs typeface="Calibri"/>
              </a:rPr>
              <a:t> </a:t>
            </a:r>
            <a:r>
              <a:rPr sz="825" spc="-15" dirty="0">
                <a:latin typeface="Calibri"/>
                <a:cs typeface="Calibri"/>
              </a:rPr>
              <a:t>that </a:t>
            </a:r>
            <a:r>
              <a:rPr sz="825" spc="8" dirty="0">
                <a:latin typeface="Calibri"/>
                <a:cs typeface="Calibri"/>
              </a:rPr>
              <a:t>terrorists</a:t>
            </a:r>
            <a:r>
              <a:rPr sz="825" spc="34" dirty="0">
                <a:latin typeface="Calibri"/>
                <a:cs typeface="Calibri"/>
              </a:rPr>
              <a:t> </a:t>
            </a:r>
            <a:r>
              <a:rPr sz="825" spc="-19" dirty="0">
                <a:latin typeface="Calibri"/>
                <a:cs typeface="Calibri"/>
              </a:rPr>
              <a:t>and </a:t>
            </a:r>
            <a:r>
              <a:rPr sz="825" spc="-8" dirty="0">
                <a:latin typeface="Calibri"/>
                <a:cs typeface="Calibri"/>
              </a:rPr>
              <a:t>cybercriminals </a:t>
            </a:r>
            <a:r>
              <a:rPr sz="825" dirty="0">
                <a:latin typeface="Calibri"/>
                <a:cs typeface="Calibri"/>
              </a:rPr>
              <a:t>exploit</a:t>
            </a:r>
            <a:r>
              <a:rPr sz="825" spc="15" dirty="0">
                <a:latin typeface="Calibri"/>
                <a:cs typeface="Calibri"/>
              </a:rPr>
              <a:t> </a:t>
            </a:r>
            <a:r>
              <a:rPr sz="825" dirty="0">
                <a:latin typeface="Calibri"/>
                <a:cs typeface="Calibri"/>
              </a:rPr>
              <a:t>to</a:t>
            </a:r>
            <a:r>
              <a:rPr sz="825" spc="34" dirty="0">
                <a:latin typeface="Calibri"/>
                <a:cs typeface="Calibri"/>
              </a:rPr>
              <a:t> </a:t>
            </a:r>
            <a:r>
              <a:rPr sz="825" dirty="0">
                <a:latin typeface="Calibri"/>
                <a:cs typeface="Calibri"/>
              </a:rPr>
              <a:t>target</a:t>
            </a:r>
            <a:r>
              <a:rPr sz="825" spc="26" dirty="0">
                <a:latin typeface="Calibri"/>
                <a:cs typeface="Calibri"/>
              </a:rPr>
              <a:t> </a:t>
            </a:r>
            <a:r>
              <a:rPr sz="825" spc="-19" dirty="0">
                <a:latin typeface="Calibri"/>
                <a:cs typeface="Calibri"/>
              </a:rPr>
              <a:t>the </a:t>
            </a:r>
            <a:r>
              <a:rPr sz="825" spc="8" dirty="0">
                <a:latin typeface="Calibri"/>
                <a:cs typeface="Calibri"/>
              </a:rPr>
              <a:t>infrastructure</a:t>
            </a:r>
            <a:r>
              <a:rPr sz="825" spc="86" dirty="0">
                <a:latin typeface="Calibri"/>
                <a:cs typeface="Calibri"/>
              </a:rPr>
              <a:t> </a:t>
            </a:r>
            <a:r>
              <a:rPr sz="825" spc="-19" dirty="0">
                <a:latin typeface="Calibri"/>
                <a:cs typeface="Calibri"/>
              </a:rPr>
              <a:t>and </a:t>
            </a:r>
            <a:r>
              <a:rPr sz="825" spc="-8" dirty="0">
                <a:latin typeface="Calibri"/>
                <a:cs typeface="Calibri"/>
              </a:rPr>
              <a:t>communication </a:t>
            </a:r>
            <a:r>
              <a:rPr sz="825" spc="30" dirty="0">
                <a:latin typeface="Calibri"/>
                <a:cs typeface="Calibri"/>
              </a:rPr>
              <a:t>systems.</a:t>
            </a:r>
            <a:endParaRPr sz="825" dirty="0">
              <a:latin typeface="Calibri"/>
              <a:cs typeface="Calibri"/>
            </a:endParaRPr>
          </a:p>
        </p:txBody>
      </p:sp>
      <p:sp>
        <p:nvSpPr>
          <p:cNvPr id="19" name="object 16">
            <a:extLst>
              <a:ext uri="{FF2B5EF4-FFF2-40B4-BE49-F238E27FC236}">
                <a16:creationId xmlns:a16="http://schemas.microsoft.com/office/drawing/2014/main" id="{ADD6B4DF-3130-558C-DF8F-88CEE8864071}"/>
              </a:ext>
            </a:extLst>
          </p:cNvPr>
          <p:cNvSpPr txBox="1"/>
          <p:nvPr/>
        </p:nvSpPr>
        <p:spPr>
          <a:xfrm>
            <a:off x="5363527" y="2736062"/>
            <a:ext cx="1160621" cy="1274804"/>
          </a:xfrm>
          <a:prstGeom prst="rect">
            <a:avLst/>
          </a:prstGeom>
          <a:solidFill>
            <a:srgbClr val="EDE7C9">
              <a:alpha val="90194"/>
            </a:srgbClr>
          </a:solidFill>
          <a:ln w="19050">
            <a:solidFill>
              <a:srgbClr val="EDE7C9"/>
            </a:solidFill>
          </a:ln>
        </p:spPr>
        <p:txBody>
          <a:bodyPr vert="horz" wrap="square" lIns="0" tIns="84296" rIns="0" bIns="0" rtlCol="0">
            <a:spAutoFit/>
          </a:bodyPr>
          <a:lstStyle/>
          <a:p>
            <a:pPr marL="92392" marR="95250">
              <a:lnSpc>
                <a:spcPts val="1155"/>
              </a:lnSpc>
              <a:spcBef>
                <a:spcPts val="664"/>
              </a:spcBef>
            </a:pPr>
            <a:r>
              <a:rPr sz="1050" dirty="0">
                <a:latin typeface="Calibri"/>
                <a:cs typeface="Calibri"/>
              </a:rPr>
              <a:t>Evaluate</a:t>
            </a:r>
            <a:r>
              <a:rPr sz="1050" spc="153" dirty="0">
                <a:latin typeface="Calibri"/>
                <a:cs typeface="Calibri"/>
              </a:rPr>
              <a:t> </a:t>
            </a:r>
            <a:r>
              <a:rPr sz="1050" spc="-8" dirty="0">
                <a:latin typeface="Calibri"/>
                <a:cs typeface="Calibri"/>
              </a:rPr>
              <a:t>Existing </a:t>
            </a:r>
            <a:r>
              <a:rPr sz="1050" spc="26" dirty="0">
                <a:latin typeface="Calibri"/>
                <a:cs typeface="Calibri"/>
              </a:rPr>
              <a:t>Solutions:</a:t>
            </a:r>
            <a:endParaRPr sz="1050">
              <a:latin typeface="Calibri"/>
              <a:cs typeface="Calibri"/>
            </a:endParaRPr>
          </a:p>
          <a:p>
            <a:pPr marL="135731" marR="155258" indent="-52388">
              <a:lnSpc>
                <a:spcPct val="91500"/>
              </a:lnSpc>
              <a:spcBef>
                <a:spcPts val="450"/>
              </a:spcBef>
              <a:buSzPct val="90909"/>
              <a:buChar char="•"/>
              <a:tabLst>
                <a:tab pos="135731" algn="l"/>
                <a:tab pos="140494" algn="l"/>
              </a:tabLst>
            </a:pPr>
            <a:r>
              <a:rPr sz="825" dirty="0">
                <a:latin typeface="Calibri"/>
                <a:cs typeface="Calibri"/>
              </a:rPr>
              <a:t>	</a:t>
            </a:r>
            <a:r>
              <a:rPr sz="825" spc="56" dirty="0">
                <a:latin typeface="Calibri"/>
                <a:cs typeface="Calibri"/>
              </a:rPr>
              <a:t>Assess</a:t>
            </a:r>
            <a:r>
              <a:rPr sz="825" spc="-23" dirty="0">
                <a:latin typeface="Calibri"/>
                <a:cs typeface="Calibri"/>
              </a:rPr>
              <a:t> </a:t>
            </a:r>
            <a:r>
              <a:rPr sz="825" spc="-19" dirty="0">
                <a:latin typeface="Calibri"/>
                <a:cs typeface="Calibri"/>
              </a:rPr>
              <a:t>the </a:t>
            </a:r>
            <a:r>
              <a:rPr sz="825" spc="15" dirty="0">
                <a:latin typeface="Calibri"/>
                <a:cs typeface="Calibri"/>
              </a:rPr>
              <a:t>effectiveness</a:t>
            </a:r>
            <a:r>
              <a:rPr sz="825" spc="79" dirty="0">
                <a:latin typeface="Calibri"/>
                <a:cs typeface="Calibri"/>
              </a:rPr>
              <a:t> </a:t>
            </a:r>
            <a:r>
              <a:rPr sz="825" spc="-19" dirty="0">
                <a:latin typeface="Calibri"/>
                <a:cs typeface="Calibri"/>
              </a:rPr>
              <a:t>of </a:t>
            </a:r>
            <a:r>
              <a:rPr sz="825" spc="-8" dirty="0">
                <a:latin typeface="Calibri"/>
                <a:cs typeface="Calibri"/>
              </a:rPr>
              <a:t>existing counterterrorism </a:t>
            </a:r>
            <a:r>
              <a:rPr sz="825" spc="15" dirty="0">
                <a:latin typeface="Calibri"/>
                <a:cs typeface="Calibri"/>
              </a:rPr>
              <a:t>strategies,</a:t>
            </a:r>
            <a:r>
              <a:rPr sz="825" dirty="0">
                <a:latin typeface="Calibri"/>
                <a:cs typeface="Calibri"/>
              </a:rPr>
              <a:t> </a:t>
            </a:r>
            <a:r>
              <a:rPr sz="825" spc="8" dirty="0">
                <a:latin typeface="Calibri"/>
                <a:cs typeface="Calibri"/>
              </a:rPr>
              <a:t>with</a:t>
            </a:r>
            <a:r>
              <a:rPr sz="825" spc="19" dirty="0">
                <a:latin typeface="Calibri"/>
                <a:cs typeface="Calibri"/>
              </a:rPr>
              <a:t> </a:t>
            </a:r>
            <a:r>
              <a:rPr sz="825" spc="4" dirty="0">
                <a:latin typeface="Calibri"/>
                <a:cs typeface="Calibri"/>
              </a:rPr>
              <a:t>a </a:t>
            </a:r>
            <a:r>
              <a:rPr sz="825" spc="38" dirty="0">
                <a:latin typeface="Calibri"/>
                <a:cs typeface="Calibri"/>
              </a:rPr>
              <a:t>focus</a:t>
            </a:r>
            <a:r>
              <a:rPr sz="825" spc="4" dirty="0">
                <a:latin typeface="Calibri"/>
                <a:cs typeface="Calibri"/>
              </a:rPr>
              <a:t> </a:t>
            </a:r>
            <a:r>
              <a:rPr sz="825" dirty="0">
                <a:latin typeface="Calibri"/>
                <a:cs typeface="Calibri"/>
              </a:rPr>
              <a:t>on</a:t>
            </a:r>
            <a:r>
              <a:rPr sz="825" spc="-4" dirty="0">
                <a:latin typeface="Calibri"/>
                <a:cs typeface="Calibri"/>
              </a:rPr>
              <a:t> </a:t>
            </a:r>
            <a:r>
              <a:rPr sz="825" spc="-8" dirty="0">
                <a:latin typeface="Calibri"/>
                <a:cs typeface="Calibri"/>
              </a:rPr>
              <a:t>software </a:t>
            </a:r>
            <a:r>
              <a:rPr sz="825" spc="8" dirty="0">
                <a:latin typeface="Calibri"/>
                <a:cs typeface="Calibri"/>
              </a:rPr>
              <a:t>security</a:t>
            </a:r>
            <a:r>
              <a:rPr sz="825" spc="94" dirty="0">
                <a:latin typeface="Calibri"/>
                <a:cs typeface="Calibri"/>
              </a:rPr>
              <a:t> </a:t>
            </a:r>
            <a:r>
              <a:rPr sz="825" spc="-8" dirty="0">
                <a:latin typeface="Calibri"/>
                <a:cs typeface="Calibri"/>
              </a:rPr>
              <a:t>measures.</a:t>
            </a:r>
            <a:endParaRPr sz="825">
              <a:latin typeface="Calibri"/>
              <a:cs typeface="Calibri"/>
            </a:endParaRPr>
          </a:p>
        </p:txBody>
      </p:sp>
      <p:sp>
        <p:nvSpPr>
          <p:cNvPr id="20" name="object 20">
            <a:extLst>
              <a:ext uri="{FF2B5EF4-FFF2-40B4-BE49-F238E27FC236}">
                <a16:creationId xmlns:a16="http://schemas.microsoft.com/office/drawing/2014/main" id="{B9CE1FB1-DD80-D27C-54D8-1185CF2FF5F7}"/>
              </a:ext>
            </a:extLst>
          </p:cNvPr>
          <p:cNvSpPr txBox="1"/>
          <p:nvPr/>
        </p:nvSpPr>
        <p:spPr>
          <a:xfrm>
            <a:off x="6613399" y="2736062"/>
            <a:ext cx="1160621" cy="1729287"/>
          </a:xfrm>
          <a:prstGeom prst="rect">
            <a:avLst/>
          </a:prstGeom>
          <a:solidFill>
            <a:srgbClr val="D7E1C9">
              <a:alpha val="90194"/>
            </a:srgbClr>
          </a:solidFill>
          <a:ln w="19050">
            <a:solidFill>
              <a:srgbClr val="D7E1C9"/>
            </a:solidFill>
          </a:ln>
        </p:spPr>
        <p:txBody>
          <a:bodyPr vert="horz" wrap="square" lIns="0" tIns="84296" rIns="0" bIns="0" rtlCol="0">
            <a:spAutoFit/>
          </a:bodyPr>
          <a:lstStyle/>
          <a:p>
            <a:pPr marL="92392" marR="88583">
              <a:lnSpc>
                <a:spcPts val="1155"/>
              </a:lnSpc>
              <a:spcBef>
                <a:spcPts val="664"/>
              </a:spcBef>
            </a:pPr>
            <a:r>
              <a:rPr sz="1050" spc="8" dirty="0">
                <a:latin typeface="Calibri"/>
                <a:cs typeface="Calibri"/>
              </a:rPr>
              <a:t>Propose</a:t>
            </a:r>
            <a:r>
              <a:rPr sz="1050" spc="124" dirty="0">
                <a:latin typeface="Calibri"/>
                <a:cs typeface="Calibri"/>
              </a:rPr>
              <a:t> </a:t>
            </a:r>
            <a:r>
              <a:rPr sz="1050" spc="-8" dirty="0">
                <a:latin typeface="Calibri"/>
                <a:cs typeface="Calibri"/>
              </a:rPr>
              <a:t>Security </a:t>
            </a:r>
            <a:r>
              <a:rPr sz="1050" spc="30" dirty="0">
                <a:latin typeface="Calibri"/>
                <a:cs typeface="Calibri"/>
              </a:rPr>
              <a:t>Enhancements:</a:t>
            </a:r>
            <a:endParaRPr sz="1050">
              <a:latin typeface="Calibri"/>
              <a:cs typeface="Calibri"/>
            </a:endParaRPr>
          </a:p>
          <a:p>
            <a:pPr marL="135731" marR="99060" indent="-52388">
              <a:lnSpc>
                <a:spcPct val="91600"/>
              </a:lnSpc>
              <a:spcBef>
                <a:spcPts val="446"/>
              </a:spcBef>
              <a:buSzPct val="90909"/>
              <a:buChar char="•"/>
              <a:tabLst>
                <a:tab pos="135731" algn="l"/>
                <a:tab pos="140494" algn="l"/>
              </a:tabLst>
            </a:pPr>
            <a:r>
              <a:rPr sz="825" dirty="0">
                <a:latin typeface="Calibri"/>
                <a:cs typeface="Calibri"/>
              </a:rPr>
              <a:t>	</a:t>
            </a:r>
            <a:r>
              <a:rPr sz="825" spc="8" dirty="0">
                <a:latin typeface="Calibri"/>
                <a:cs typeface="Calibri"/>
              </a:rPr>
              <a:t>Develop</a:t>
            </a:r>
            <a:r>
              <a:rPr sz="825" spc="83" dirty="0">
                <a:latin typeface="Calibri"/>
                <a:cs typeface="Calibri"/>
              </a:rPr>
              <a:t> </a:t>
            </a:r>
            <a:r>
              <a:rPr sz="825" spc="4" dirty="0">
                <a:latin typeface="Calibri"/>
                <a:cs typeface="Calibri"/>
              </a:rPr>
              <a:t>a</a:t>
            </a:r>
            <a:r>
              <a:rPr sz="825" spc="375" dirty="0">
                <a:latin typeface="Calibri"/>
                <a:cs typeface="Calibri"/>
              </a:rPr>
              <a:t> </a:t>
            </a:r>
            <a:r>
              <a:rPr sz="825" dirty="0">
                <a:latin typeface="Calibri"/>
                <a:cs typeface="Calibri"/>
              </a:rPr>
              <a:t>framework</a:t>
            </a:r>
            <a:r>
              <a:rPr sz="825" spc="26" dirty="0">
                <a:latin typeface="Calibri"/>
                <a:cs typeface="Calibri"/>
              </a:rPr>
              <a:t> </a:t>
            </a:r>
            <a:r>
              <a:rPr sz="825" dirty="0">
                <a:latin typeface="Calibri"/>
                <a:cs typeface="Calibri"/>
              </a:rPr>
              <a:t>of</a:t>
            </a:r>
            <a:r>
              <a:rPr sz="825" spc="38" dirty="0">
                <a:latin typeface="Calibri"/>
                <a:cs typeface="Calibri"/>
              </a:rPr>
              <a:t> </a:t>
            </a:r>
            <a:r>
              <a:rPr sz="825" spc="-15" dirty="0">
                <a:latin typeface="Calibri"/>
                <a:cs typeface="Calibri"/>
              </a:rPr>
              <a:t>best </a:t>
            </a:r>
            <a:r>
              <a:rPr sz="825" spc="34" dirty="0">
                <a:latin typeface="Calibri"/>
                <a:cs typeface="Calibri"/>
              </a:rPr>
              <a:t>practices</a:t>
            </a:r>
            <a:r>
              <a:rPr sz="825" spc="-19" dirty="0">
                <a:latin typeface="Calibri"/>
                <a:cs typeface="Calibri"/>
              </a:rPr>
              <a:t> and </a:t>
            </a:r>
            <a:r>
              <a:rPr sz="825" dirty="0">
                <a:latin typeface="Calibri"/>
                <a:cs typeface="Calibri"/>
              </a:rPr>
              <a:t>innovative</a:t>
            </a:r>
            <a:r>
              <a:rPr sz="825" spc="83" dirty="0">
                <a:latin typeface="Calibri"/>
                <a:cs typeface="Calibri"/>
              </a:rPr>
              <a:t> </a:t>
            </a:r>
            <a:r>
              <a:rPr sz="825" spc="-8" dirty="0">
                <a:latin typeface="Calibri"/>
                <a:cs typeface="Calibri"/>
              </a:rPr>
              <a:t>solutions </a:t>
            </a:r>
            <a:r>
              <a:rPr sz="825" dirty="0">
                <a:latin typeface="Calibri"/>
                <a:cs typeface="Calibri"/>
              </a:rPr>
              <a:t>with</a:t>
            </a:r>
            <a:r>
              <a:rPr sz="825" spc="30" dirty="0">
                <a:latin typeface="Calibri"/>
                <a:cs typeface="Calibri"/>
              </a:rPr>
              <a:t> </a:t>
            </a:r>
            <a:r>
              <a:rPr sz="825" dirty="0">
                <a:latin typeface="Calibri"/>
                <a:cs typeface="Calibri"/>
              </a:rPr>
              <a:t>AI-</a:t>
            </a:r>
            <a:r>
              <a:rPr sz="825" spc="-8" dirty="0">
                <a:latin typeface="Calibri"/>
                <a:cs typeface="Calibri"/>
              </a:rPr>
              <a:t>driven </a:t>
            </a:r>
            <a:r>
              <a:rPr sz="825" spc="8" dirty="0">
                <a:latin typeface="Calibri"/>
                <a:cs typeface="Calibri"/>
              </a:rPr>
              <a:t>detection</a:t>
            </a:r>
            <a:r>
              <a:rPr sz="825" spc="75" dirty="0">
                <a:latin typeface="Calibri"/>
                <a:cs typeface="Calibri"/>
              </a:rPr>
              <a:t> </a:t>
            </a:r>
            <a:r>
              <a:rPr sz="825" spc="-19" dirty="0">
                <a:latin typeface="Calibri"/>
                <a:cs typeface="Calibri"/>
              </a:rPr>
              <a:t>to</a:t>
            </a:r>
            <a:r>
              <a:rPr sz="825" spc="375" dirty="0">
                <a:latin typeface="Calibri"/>
                <a:cs typeface="Calibri"/>
              </a:rPr>
              <a:t> </a:t>
            </a:r>
            <a:r>
              <a:rPr sz="825" dirty="0">
                <a:latin typeface="Calibri"/>
                <a:cs typeface="Calibri"/>
              </a:rPr>
              <a:t>improve</a:t>
            </a:r>
            <a:r>
              <a:rPr sz="825" spc="30" dirty="0">
                <a:latin typeface="Calibri"/>
                <a:cs typeface="Calibri"/>
              </a:rPr>
              <a:t> </a:t>
            </a:r>
            <a:r>
              <a:rPr sz="825" dirty="0">
                <a:latin typeface="Calibri"/>
                <a:cs typeface="Calibri"/>
              </a:rPr>
              <a:t>the</a:t>
            </a:r>
            <a:r>
              <a:rPr sz="825" spc="45" dirty="0">
                <a:latin typeface="Calibri"/>
                <a:cs typeface="Calibri"/>
              </a:rPr>
              <a:t> </a:t>
            </a:r>
            <a:r>
              <a:rPr sz="825" spc="-8" dirty="0">
                <a:latin typeface="Calibri"/>
                <a:cs typeface="Calibri"/>
              </a:rPr>
              <a:t>security </a:t>
            </a:r>
            <a:r>
              <a:rPr sz="825" dirty="0">
                <a:latin typeface="Calibri"/>
                <a:cs typeface="Calibri"/>
              </a:rPr>
              <a:t>of</a:t>
            </a:r>
            <a:r>
              <a:rPr sz="825" spc="60" dirty="0">
                <a:latin typeface="Calibri"/>
                <a:cs typeface="Calibri"/>
              </a:rPr>
              <a:t> </a:t>
            </a:r>
            <a:r>
              <a:rPr sz="825" dirty="0">
                <a:latin typeface="Calibri"/>
                <a:cs typeface="Calibri"/>
              </a:rPr>
              <a:t>software</a:t>
            </a:r>
            <a:r>
              <a:rPr sz="825" spc="38" dirty="0">
                <a:latin typeface="Calibri"/>
                <a:cs typeface="Calibri"/>
              </a:rPr>
              <a:t> </a:t>
            </a:r>
            <a:r>
              <a:rPr sz="825" spc="34" dirty="0">
                <a:latin typeface="Calibri"/>
                <a:cs typeface="Calibri"/>
              </a:rPr>
              <a:t>systems </a:t>
            </a:r>
            <a:r>
              <a:rPr sz="825" spc="15" dirty="0">
                <a:latin typeface="Calibri"/>
                <a:cs typeface="Calibri"/>
              </a:rPr>
              <a:t>in</a:t>
            </a:r>
            <a:r>
              <a:rPr sz="825" spc="26" dirty="0">
                <a:latin typeface="Calibri"/>
                <a:cs typeface="Calibri"/>
              </a:rPr>
              <a:t> </a:t>
            </a:r>
            <a:r>
              <a:rPr sz="825" spc="15" dirty="0">
                <a:latin typeface="Calibri"/>
                <a:cs typeface="Calibri"/>
              </a:rPr>
              <a:t>critical</a:t>
            </a:r>
            <a:r>
              <a:rPr sz="825" spc="26" dirty="0">
                <a:latin typeface="Calibri"/>
                <a:cs typeface="Calibri"/>
              </a:rPr>
              <a:t> sectors </a:t>
            </a:r>
            <a:r>
              <a:rPr sz="825" spc="8" dirty="0">
                <a:latin typeface="Calibri"/>
                <a:cs typeface="Calibri"/>
              </a:rPr>
              <a:t>which</a:t>
            </a:r>
            <a:r>
              <a:rPr sz="825" spc="53" dirty="0">
                <a:latin typeface="Calibri"/>
                <a:cs typeface="Calibri"/>
              </a:rPr>
              <a:t> </a:t>
            </a:r>
            <a:r>
              <a:rPr sz="825" spc="8" dirty="0">
                <a:latin typeface="Calibri"/>
                <a:cs typeface="Calibri"/>
              </a:rPr>
              <a:t>are</a:t>
            </a:r>
            <a:r>
              <a:rPr sz="825" spc="49" dirty="0">
                <a:latin typeface="Calibri"/>
                <a:cs typeface="Calibri"/>
              </a:rPr>
              <a:t> </a:t>
            </a:r>
            <a:r>
              <a:rPr sz="825" spc="8" dirty="0">
                <a:latin typeface="Calibri"/>
                <a:cs typeface="Calibri"/>
              </a:rPr>
              <a:t>leading</a:t>
            </a:r>
            <a:r>
              <a:rPr sz="825" spc="41" dirty="0">
                <a:latin typeface="Calibri"/>
                <a:cs typeface="Calibri"/>
              </a:rPr>
              <a:t> </a:t>
            </a:r>
            <a:r>
              <a:rPr sz="825" spc="-19" dirty="0">
                <a:latin typeface="Calibri"/>
                <a:cs typeface="Calibri"/>
              </a:rPr>
              <a:t>to </a:t>
            </a:r>
            <a:r>
              <a:rPr sz="825" dirty="0">
                <a:latin typeface="Calibri"/>
                <a:cs typeface="Calibri"/>
              </a:rPr>
              <a:t>cyber</a:t>
            </a:r>
            <a:r>
              <a:rPr sz="825" spc="86" dirty="0">
                <a:latin typeface="Calibri"/>
                <a:cs typeface="Calibri"/>
              </a:rPr>
              <a:t> </a:t>
            </a:r>
            <a:r>
              <a:rPr sz="825" spc="-8" dirty="0">
                <a:latin typeface="Calibri"/>
                <a:cs typeface="Calibri"/>
              </a:rPr>
              <a:t>terrorism.</a:t>
            </a:r>
            <a:endParaRPr sz="825">
              <a:latin typeface="Calibri"/>
              <a:cs typeface="Calibri"/>
            </a:endParaRPr>
          </a:p>
        </p:txBody>
      </p:sp>
      <p:sp>
        <p:nvSpPr>
          <p:cNvPr id="22" name="object 25">
            <a:extLst>
              <a:ext uri="{FF2B5EF4-FFF2-40B4-BE49-F238E27FC236}">
                <a16:creationId xmlns:a16="http://schemas.microsoft.com/office/drawing/2014/main" id="{AA500848-AF18-9838-9F71-2EBF67F390ED}"/>
              </a:ext>
            </a:extLst>
          </p:cNvPr>
          <p:cNvSpPr txBox="1"/>
          <p:nvPr/>
        </p:nvSpPr>
        <p:spPr>
          <a:xfrm>
            <a:off x="7863174" y="2736062"/>
            <a:ext cx="1160621" cy="2233656"/>
          </a:xfrm>
          <a:prstGeom prst="rect">
            <a:avLst/>
          </a:prstGeom>
          <a:solidFill>
            <a:srgbClr val="CCD3CC">
              <a:alpha val="90194"/>
            </a:srgbClr>
          </a:solidFill>
          <a:ln w="19050">
            <a:solidFill>
              <a:srgbClr val="CCD3CC"/>
            </a:solidFill>
          </a:ln>
        </p:spPr>
        <p:txBody>
          <a:bodyPr vert="horz" wrap="square" lIns="0" tIns="84296" rIns="0" bIns="0" rtlCol="0">
            <a:spAutoFit/>
          </a:bodyPr>
          <a:lstStyle/>
          <a:p>
            <a:pPr marL="92392" marR="199073">
              <a:lnSpc>
                <a:spcPts val="1155"/>
              </a:lnSpc>
              <a:spcBef>
                <a:spcPts val="664"/>
              </a:spcBef>
            </a:pPr>
            <a:r>
              <a:rPr sz="1050" dirty="0">
                <a:latin typeface="Calibri"/>
                <a:cs typeface="Calibri"/>
              </a:rPr>
              <a:t>Promote</a:t>
            </a:r>
            <a:r>
              <a:rPr sz="1050" spc="75" dirty="0">
                <a:latin typeface="Calibri"/>
                <a:cs typeface="Calibri"/>
              </a:rPr>
              <a:t> </a:t>
            </a:r>
            <a:r>
              <a:rPr sz="1050" spc="-8" dirty="0">
                <a:latin typeface="Calibri"/>
                <a:cs typeface="Calibri"/>
              </a:rPr>
              <a:t>Policy </a:t>
            </a:r>
            <a:r>
              <a:rPr sz="1050" spc="-19" dirty="0">
                <a:latin typeface="Calibri"/>
                <a:cs typeface="Calibri"/>
              </a:rPr>
              <a:t>and </a:t>
            </a:r>
            <a:r>
              <a:rPr sz="1050" spc="-8" dirty="0">
                <a:latin typeface="Calibri"/>
                <a:cs typeface="Calibri"/>
              </a:rPr>
              <a:t>Collaboration:</a:t>
            </a:r>
            <a:endParaRPr sz="1050" dirty="0">
              <a:latin typeface="Calibri"/>
              <a:cs typeface="Calibri"/>
            </a:endParaRPr>
          </a:p>
          <a:p>
            <a:pPr marL="136208" marR="113824" indent="-52388">
              <a:lnSpc>
                <a:spcPct val="91600"/>
              </a:lnSpc>
              <a:spcBef>
                <a:spcPts val="446"/>
              </a:spcBef>
              <a:buSzPct val="90909"/>
              <a:buChar char="•"/>
              <a:tabLst>
                <a:tab pos="136208" algn="l"/>
                <a:tab pos="140970" algn="l"/>
              </a:tabLst>
            </a:pPr>
            <a:r>
              <a:rPr sz="825" dirty="0">
                <a:latin typeface="Calibri"/>
                <a:cs typeface="Calibri"/>
              </a:rPr>
              <a:t>	</a:t>
            </a:r>
            <a:r>
              <a:rPr sz="825" spc="-8" dirty="0">
                <a:latin typeface="Calibri"/>
                <a:cs typeface="Calibri"/>
              </a:rPr>
              <a:t>Provide recommendations </a:t>
            </a:r>
            <a:r>
              <a:rPr sz="825" spc="38" dirty="0">
                <a:latin typeface="Calibri"/>
                <a:cs typeface="Calibri"/>
              </a:rPr>
              <a:t>based</a:t>
            </a:r>
            <a:r>
              <a:rPr sz="825" spc="-8" dirty="0">
                <a:latin typeface="Calibri"/>
                <a:cs typeface="Calibri"/>
              </a:rPr>
              <a:t> </a:t>
            </a:r>
            <a:r>
              <a:rPr sz="825" dirty="0">
                <a:latin typeface="Calibri"/>
                <a:cs typeface="Calibri"/>
              </a:rPr>
              <a:t>on</a:t>
            </a:r>
            <a:r>
              <a:rPr sz="825" spc="11" dirty="0">
                <a:latin typeface="Calibri"/>
                <a:cs typeface="Calibri"/>
              </a:rPr>
              <a:t> </a:t>
            </a:r>
            <a:r>
              <a:rPr sz="825" dirty="0">
                <a:latin typeface="Calibri"/>
                <a:cs typeface="Calibri"/>
              </a:rPr>
              <a:t>the </a:t>
            </a:r>
            <a:r>
              <a:rPr sz="825" spc="-15" dirty="0">
                <a:latin typeface="Calibri"/>
                <a:cs typeface="Calibri"/>
              </a:rPr>
              <a:t>model </a:t>
            </a:r>
            <a:r>
              <a:rPr sz="825" spc="38" dirty="0">
                <a:latin typeface="Calibri"/>
                <a:cs typeface="Calibri"/>
              </a:rPr>
              <a:t>usage</a:t>
            </a:r>
            <a:r>
              <a:rPr sz="825" spc="-34" dirty="0">
                <a:latin typeface="Calibri"/>
                <a:cs typeface="Calibri"/>
              </a:rPr>
              <a:t> </a:t>
            </a:r>
            <a:r>
              <a:rPr sz="825" dirty="0">
                <a:latin typeface="Calibri"/>
                <a:cs typeface="Calibri"/>
              </a:rPr>
              <a:t>for</a:t>
            </a:r>
            <a:r>
              <a:rPr sz="825" spc="-34" dirty="0">
                <a:latin typeface="Calibri"/>
                <a:cs typeface="Calibri"/>
              </a:rPr>
              <a:t> </a:t>
            </a:r>
            <a:r>
              <a:rPr sz="825" spc="-8" dirty="0">
                <a:latin typeface="Calibri"/>
                <a:cs typeface="Calibri"/>
              </a:rPr>
              <a:t>improving collaboration </a:t>
            </a:r>
            <a:r>
              <a:rPr sz="825" dirty="0">
                <a:latin typeface="Calibri"/>
                <a:cs typeface="Calibri"/>
              </a:rPr>
              <a:t>between</a:t>
            </a:r>
            <a:r>
              <a:rPr sz="825" spc="64" dirty="0">
                <a:latin typeface="Calibri"/>
                <a:cs typeface="Calibri"/>
              </a:rPr>
              <a:t> </a:t>
            </a:r>
            <a:r>
              <a:rPr sz="825" spc="-19" dirty="0">
                <a:latin typeface="Calibri"/>
                <a:cs typeface="Calibri"/>
              </a:rPr>
              <a:t>the </a:t>
            </a:r>
            <a:r>
              <a:rPr sz="825" spc="8" dirty="0">
                <a:latin typeface="Calibri"/>
                <a:cs typeface="Calibri"/>
              </a:rPr>
              <a:t>government,</a:t>
            </a:r>
            <a:r>
              <a:rPr sz="825" spc="30" dirty="0">
                <a:latin typeface="Calibri"/>
                <a:cs typeface="Calibri"/>
              </a:rPr>
              <a:t> </a:t>
            </a:r>
            <a:r>
              <a:rPr sz="825" spc="-8" dirty="0">
                <a:latin typeface="Calibri"/>
                <a:cs typeface="Calibri"/>
              </a:rPr>
              <a:t>private </a:t>
            </a:r>
            <a:r>
              <a:rPr sz="825" spc="8" dirty="0">
                <a:latin typeface="Calibri"/>
                <a:cs typeface="Calibri"/>
              </a:rPr>
              <a:t>sector,</a:t>
            </a:r>
            <a:r>
              <a:rPr sz="825" spc="120" dirty="0">
                <a:latin typeface="Calibri"/>
                <a:cs typeface="Calibri"/>
              </a:rPr>
              <a:t> </a:t>
            </a:r>
            <a:r>
              <a:rPr sz="825" spc="-19" dirty="0">
                <a:latin typeface="Calibri"/>
                <a:cs typeface="Calibri"/>
              </a:rPr>
              <a:t>and </a:t>
            </a:r>
            <a:r>
              <a:rPr sz="825" spc="-8" dirty="0">
                <a:latin typeface="Calibri"/>
                <a:cs typeface="Calibri"/>
              </a:rPr>
              <a:t>international </a:t>
            </a:r>
            <a:r>
              <a:rPr sz="825" spc="8" dirty="0">
                <a:latin typeface="Calibri"/>
                <a:cs typeface="Calibri"/>
              </a:rPr>
              <a:t>partners</a:t>
            </a:r>
            <a:r>
              <a:rPr sz="825" spc="60" dirty="0">
                <a:latin typeface="Calibri"/>
                <a:cs typeface="Calibri"/>
              </a:rPr>
              <a:t> </a:t>
            </a:r>
            <a:r>
              <a:rPr sz="825" spc="-19" dirty="0">
                <a:latin typeface="Calibri"/>
                <a:cs typeface="Calibri"/>
              </a:rPr>
              <a:t>to </a:t>
            </a:r>
            <a:r>
              <a:rPr sz="825" spc="-8" dirty="0">
                <a:latin typeface="Calibri"/>
                <a:cs typeface="Calibri"/>
              </a:rPr>
              <a:t>strengthen </a:t>
            </a:r>
            <a:r>
              <a:rPr sz="825" spc="15" dirty="0">
                <a:latin typeface="Calibri"/>
                <a:cs typeface="Calibri"/>
              </a:rPr>
              <a:t>cybersecurity</a:t>
            </a:r>
            <a:r>
              <a:rPr sz="825" spc="60" dirty="0">
                <a:latin typeface="Calibri"/>
                <a:cs typeface="Calibri"/>
              </a:rPr>
              <a:t> </a:t>
            </a:r>
            <a:r>
              <a:rPr sz="825" spc="-19" dirty="0">
                <a:latin typeface="Calibri"/>
                <a:cs typeface="Calibri"/>
              </a:rPr>
              <a:t>and </a:t>
            </a:r>
            <a:r>
              <a:rPr sz="825" spc="-8" dirty="0">
                <a:latin typeface="Calibri"/>
                <a:cs typeface="Calibri"/>
              </a:rPr>
              <a:t>counterterrorism measures.</a:t>
            </a:r>
            <a:endParaRPr sz="825" dirty="0">
              <a:latin typeface="Calibri"/>
              <a:cs typeface="Calibri"/>
            </a:endParaRPr>
          </a:p>
        </p:txBody>
      </p:sp>
      <p:grpSp>
        <p:nvGrpSpPr>
          <p:cNvPr id="24" name="object 13">
            <a:extLst>
              <a:ext uri="{FF2B5EF4-FFF2-40B4-BE49-F238E27FC236}">
                <a16:creationId xmlns:a16="http://schemas.microsoft.com/office/drawing/2014/main" id="{2D354CFE-A37F-A4ED-B808-8179BCC744B4}"/>
              </a:ext>
            </a:extLst>
          </p:cNvPr>
          <p:cNvGrpSpPr/>
          <p:nvPr/>
        </p:nvGrpSpPr>
        <p:grpSpPr>
          <a:xfrm>
            <a:off x="5363527" y="2329900"/>
            <a:ext cx="1289685" cy="397193"/>
            <a:chOff x="7141844" y="3128517"/>
            <a:chExt cx="1719580" cy="529590"/>
          </a:xfrm>
        </p:grpSpPr>
        <p:sp>
          <p:nvSpPr>
            <p:cNvPr id="25" name="object 14">
              <a:extLst>
                <a:ext uri="{FF2B5EF4-FFF2-40B4-BE49-F238E27FC236}">
                  <a16:creationId xmlns:a16="http://schemas.microsoft.com/office/drawing/2014/main" id="{20969391-DE18-1C44-319D-46CEFB60CD95}"/>
                </a:ext>
              </a:extLst>
            </p:cNvPr>
            <p:cNvSpPr/>
            <p:nvPr/>
          </p:nvSpPr>
          <p:spPr>
            <a:xfrm>
              <a:off x="7151369" y="3138042"/>
              <a:ext cx="1700530" cy="510540"/>
            </a:xfrm>
            <a:custGeom>
              <a:avLst/>
              <a:gdLst/>
              <a:ahLst/>
              <a:cxnLst/>
              <a:rect l="l" t="t" r="r" b="b"/>
              <a:pathLst>
                <a:path w="1700529" h="510539">
                  <a:moveTo>
                    <a:pt x="1546986" y="0"/>
                  </a:moveTo>
                  <a:lnTo>
                    <a:pt x="0" y="0"/>
                  </a:lnTo>
                  <a:lnTo>
                    <a:pt x="153034" y="255016"/>
                  </a:lnTo>
                  <a:lnTo>
                    <a:pt x="0" y="510032"/>
                  </a:lnTo>
                  <a:lnTo>
                    <a:pt x="1546986" y="510032"/>
                  </a:lnTo>
                  <a:lnTo>
                    <a:pt x="1700022" y="255016"/>
                  </a:lnTo>
                  <a:lnTo>
                    <a:pt x="1546986" y="0"/>
                  </a:lnTo>
                  <a:close/>
                </a:path>
              </a:pathLst>
            </a:custGeom>
            <a:solidFill>
              <a:srgbClr val="CAC11E"/>
            </a:solidFill>
          </p:spPr>
          <p:txBody>
            <a:bodyPr wrap="square" lIns="0" tIns="0" rIns="0" bIns="0" rtlCol="0"/>
            <a:lstStyle/>
            <a:p>
              <a:endParaRPr/>
            </a:p>
          </p:txBody>
        </p:sp>
        <p:sp>
          <p:nvSpPr>
            <p:cNvPr id="26" name="object 15">
              <a:extLst>
                <a:ext uri="{FF2B5EF4-FFF2-40B4-BE49-F238E27FC236}">
                  <a16:creationId xmlns:a16="http://schemas.microsoft.com/office/drawing/2014/main" id="{73AF3147-2F0E-AAF7-7D1B-31F0413F0244}"/>
                </a:ext>
              </a:extLst>
            </p:cNvPr>
            <p:cNvSpPr/>
            <p:nvPr/>
          </p:nvSpPr>
          <p:spPr>
            <a:xfrm>
              <a:off x="7151369" y="3138042"/>
              <a:ext cx="1700530" cy="510540"/>
            </a:xfrm>
            <a:custGeom>
              <a:avLst/>
              <a:gdLst/>
              <a:ahLst/>
              <a:cxnLst/>
              <a:rect l="l" t="t" r="r" b="b"/>
              <a:pathLst>
                <a:path w="1700529" h="510539">
                  <a:moveTo>
                    <a:pt x="0" y="0"/>
                  </a:moveTo>
                  <a:lnTo>
                    <a:pt x="1546986" y="0"/>
                  </a:lnTo>
                  <a:lnTo>
                    <a:pt x="1700022" y="255016"/>
                  </a:lnTo>
                  <a:lnTo>
                    <a:pt x="1546986" y="510032"/>
                  </a:lnTo>
                  <a:lnTo>
                    <a:pt x="0" y="510032"/>
                  </a:lnTo>
                  <a:lnTo>
                    <a:pt x="153034" y="255016"/>
                  </a:lnTo>
                  <a:lnTo>
                    <a:pt x="0" y="0"/>
                  </a:lnTo>
                  <a:close/>
                </a:path>
              </a:pathLst>
            </a:custGeom>
            <a:ln w="19049">
              <a:solidFill>
                <a:srgbClr val="CAC11E"/>
              </a:solidFill>
            </a:ln>
          </p:spPr>
          <p:txBody>
            <a:bodyPr wrap="square" lIns="0" tIns="0" rIns="0" bIns="0" rtlCol="0"/>
            <a:lstStyle/>
            <a:p>
              <a:endParaRPr/>
            </a:p>
          </p:txBody>
        </p:sp>
      </p:grpSp>
      <p:grpSp>
        <p:nvGrpSpPr>
          <p:cNvPr id="27" name="object 17">
            <a:extLst>
              <a:ext uri="{FF2B5EF4-FFF2-40B4-BE49-F238E27FC236}">
                <a16:creationId xmlns:a16="http://schemas.microsoft.com/office/drawing/2014/main" id="{B25BFA65-2B22-BD48-7E5B-D1A4108093E0}"/>
              </a:ext>
            </a:extLst>
          </p:cNvPr>
          <p:cNvGrpSpPr/>
          <p:nvPr/>
        </p:nvGrpSpPr>
        <p:grpSpPr>
          <a:xfrm>
            <a:off x="6606254" y="2346388"/>
            <a:ext cx="1289685" cy="397193"/>
            <a:chOff x="8808339" y="3128517"/>
            <a:chExt cx="1719580" cy="529590"/>
          </a:xfrm>
        </p:grpSpPr>
        <p:sp>
          <p:nvSpPr>
            <p:cNvPr id="28" name="object 18">
              <a:extLst>
                <a:ext uri="{FF2B5EF4-FFF2-40B4-BE49-F238E27FC236}">
                  <a16:creationId xmlns:a16="http://schemas.microsoft.com/office/drawing/2014/main" id="{F1E4DA4B-8C8D-8A5A-14E2-15E678227CB6}"/>
                </a:ext>
              </a:extLst>
            </p:cNvPr>
            <p:cNvSpPr/>
            <p:nvPr/>
          </p:nvSpPr>
          <p:spPr>
            <a:xfrm>
              <a:off x="8817864" y="3138042"/>
              <a:ext cx="1700530" cy="510540"/>
            </a:xfrm>
            <a:custGeom>
              <a:avLst/>
              <a:gdLst/>
              <a:ahLst/>
              <a:cxnLst/>
              <a:rect l="l" t="t" r="r" b="b"/>
              <a:pathLst>
                <a:path w="1700529" h="510539">
                  <a:moveTo>
                    <a:pt x="1546986" y="0"/>
                  </a:moveTo>
                  <a:lnTo>
                    <a:pt x="0" y="0"/>
                  </a:lnTo>
                  <a:lnTo>
                    <a:pt x="153034" y="255016"/>
                  </a:lnTo>
                  <a:lnTo>
                    <a:pt x="0" y="510032"/>
                  </a:lnTo>
                  <a:lnTo>
                    <a:pt x="1546986" y="510032"/>
                  </a:lnTo>
                  <a:lnTo>
                    <a:pt x="1700021" y="255016"/>
                  </a:lnTo>
                  <a:lnTo>
                    <a:pt x="1546986" y="0"/>
                  </a:lnTo>
                  <a:close/>
                </a:path>
              </a:pathLst>
            </a:custGeom>
            <a:solidFill>
              <a:srgbClr val="55991D"/>
            </a:solidFill>
          </p:spPr>
          <p:txBody>
            <a:bodyPr wrap="square" lIns="0" tIns="0" rIns="0" bIns="0" rtlCol="0"/>
            <a:lstStyle/>
            <a:p>
              <a:endParaRPr/>
            </a:p>
          </p:txBody>
        </p:sp>
        <p:sp>
          <p:nvSpPr>
            <p:cNvPr id="29" name="object 19">
              <a:extLst>
                <a:ext uri="{FF2B5EF4-FFF2-40B4-BE49-F238E27FC236}">
                  <a16:creationId xmlns:a16="http://schemas.microsoft.com/office/drawing/2014/main" id="{EA9F432B-CE34-ED6C-A86C-13DEBCD7051B}"/>
                </a:ext>
              </a:extLst>
            </p:cNvPr>
            <p:cNvSpPr/>
            <p:nvPr/>
          </p:nvSpPr>
          <p:spPr>
            <a:xfrm>
              <a:off x="8817864" y="3138042"/>
              <a:ext cx="1700530" cy="510540"/>
            </a:xfrm>
            <a:custGeom>
              <a:avLst/>
              <a:gdLst/>
              <a:ahLst/>
              <a:cxnLst/>
              <a:rect l="l" t="t" r="r" b="b"/>
              <a:pathLst>
                <a:path w="1700529" h="510539">
                  <a:moveTo>
                    <a:pt x="0" y="0"/>
                  </a:moveTo>
                  <a:lnTo>
                    <a:pt x="1546986" y="0"/>
                  </a:lnTo>
                  <a:lnTo>
                    <a:pt x="1700021" y="255016"/>
                  </a:lnTo>
                  <a:lnTo>
                    <a:pt x="1546986" y="510032"/>
                  </a:lnTo>
                  <a:lnTo>
                    <a:pt x="0" y="510032"/>
                  </a:lnTo>
                  <a:lnTo>
                    <a:pt x="153034" y="255016"/>
                  </a:lnTo>
                  <a:lnTo>
                    <a:pt x="0" y="0"/>
                  </a:lnTo>
                  <a:close/>
                </a:path>
              </a:pathLst>
            </a:custGeom>
            <a:ln w="19049">
              <a:solidFill>
                <a:srgbClr val="55991D"/>
              </a:solidFill>
            </a:ln>
          </p:spPr>
          <p:txBody>
            <a:bodyPr wrap="square" lIns="0" tIns="0" rIns="0" bIns="0" rtlCol="0"/>
            <a:lstStyle/>
            <a:p>
              <a:endParaRPr/>
            </a:p>
          </p:txBody>
        </p:sp>
      </p:grpSp>
      <p:grpSp>
        <p:nvGrpSpPr>
          <p:cNvPr id="30" name="object 21">
            <a:extLst>
              <a:ext uri="{FF2B5EF4-FFF2-40B4-BE49-F238E27FC236}">
                <a16:creationId xmlns:a16="http://schemas.microsoft.com/office/drawing/2014/main" id="{29578961-9227-0900-2B66-4806742C25C9}"/>
              </a:ext>
            </a:extLst>
          </p:cNvPr>
          <p:cNvGrpSpPr/>
          <p:nvPr/>
        </p:nvGrpSpPr>
        <p:grpSpPr>
          <a:xfrm>
            <a:off x="7856030" y="2346388"/>
            <a:ext cx="1289685" cy="397193"/>
            <a:chOff x="10474706" y="3128517"/>
            <a:chExt cx="1719580" cy="529590"/>
          </a:xfrm>
        </p:grpSpPr>
        <p:sp>
          <p:nvSpPr>
            <p:cNvPr id="31" name="object 22">
              <a:extLst>
                <a:ext uri="{FF2B5EF4-FFF2-40B4-BE49-F238E27FC236}">
                  <a16:creationId xmlns:a16="http://schemas.microsoft.com/office/drawing/2014/main" id="{7343F9A6-E5C9-4FE6-5044-D159A3BF5CD1}"/>
                </a:ext>
              </a:extLst>
            </p:cNvPr>
            <p:cNvSpPr/>
            <p:nvPr/>
          </p:nvSpPr>
          <p:spPr>
            <a:xfrm>
              <a:off x="10484231" y="3138042"/>
              <a:ext cx="1700530" cy="510540"/>
            </a:xfrm>
            <a:custGeom>
              <a:avLst/>
              <a:gdLst/>
              <a:ahLst/>
              <a:cxnLst/>
              <a:rect l="l" t="t" r="r" b="b"/>
              <a:pathLst>
                <a:path w="1700529" h="510539">
                  <a:moveTo>
                    <a:pt x="1546987" y="0"/>
                  </a:moveTo>
                  <a:lnTo>
                    <a:pt x="0" y="0"/>
                  </a:lnTo>
                  <a:lnTo>
                    <a:pt x="153035" y="255016"/>
                  </a:lnTo>
                  <a:lnTo>
                    <a:pt x="0" y="510032"/>
                  </a:lnTo>
                  <a:lnTo>
                    <a:pt x="1546987" y="510032"/>
                  </a:lnTo>
                  <a:lnTo>
                    <a:pt x="1700022" y="255016"/>
                  </a:lnTo>
                  <a:lnTo>
                    <a:pt x="1546987" y="0"/>
                  </a:lnTo>
                  <a:close/>
                </a:path>
              </a:pathLst>
            </a:custGeom>
            <a:solidFill>
              <a:srgbClr val="186B23"/>
            </a:solidFill>
          </p:spPr>
          <p:txBody>
            <a:bodyPr wrap="square" lIns="0" tIns="0" rIns="0" bIns="0" rtlCol="0"/>
            <a:lstStyle/>
            <a:p>
              <a:endParaRPr/>
            </a:p>
          </p:txBody>
        </p:sp>
        <p:sp>
          <p:nvSpPr>
            <p:cNvPr id="32" name="object 23">
              <a:extLst>
                <a:ext uri="{FF2B5EF4-FFF2-40B4-BE49-F238E27FC236}">
                  <a16:creationId xmlns:a16="http://schemas.microsoft.com/office/drawing/2014/main" id="{F7841961-13D7-CF81-9BC5-75EA431B2B25}"/>
                </a:ext>
              </a:extLst>
            </p:cNvPr>
            <p:cNvSpPr/>
            <p:nvPr/>
          </p:nvSpPr>
          <p:spPr>
            <a:xfrm>
              <a:off x="10484231" y="3138042"/>
              <a:ext cx="1700530" cy="510540"/>
            </a:xfrm>
            <a:custGeom>
              <a:avLst/>
              <a:gdLst/>
              <a:ahLst/>
              <a:cxnLst/>
              <a:rect l="l" t="t" r="r" b="b"/>
              <a:pathLst>
                <a:path w="1700529" h="510539">
                  <a:moveTo>
                    <a:pt x="0" y="0"/>
                  </a:moveTo>
                  <a:lnTo>
                    <a:pt x="1546987" y="0"/>
                  </a:lnTo>
                  <a:lnTo>
                    <a:pt x="1700022" y="255016"/>
                  </a:lnTo>
                  <a:lnTo>
                    <a:pt x="1546987" y="510032"/>
                  </a:lnTo>
                  <a:lnTo>
                    <a:pt x="0" y="510032"/>
                  </a:lnTo>
                  <a:lnTo>
                    <a:pt x="153035" y="255016"/>
                  </a:lnTo>
                  <a:lnTo>
                    <a:pt x="0" y="0"/>
                  </a:lnTo>
                  <a:close/>
                </a:path>
              </a:pathLst>
            </a:custGeom>
            <a:ln w="19049">
              <a:solidFill>
                <a:srgbClr val="186B23"/>
              </a:solidFill>
            </a:ln>
          </p:spPr>
          <p:txBody>
            <a:bodyPr wrap="square" lIns="0" tIns="0" rIns="0" bIns="0" rtlCol="0"/>
            <a:lstStyle/>
            <a:p>
              <a:endParaRPr/>
            </a:p>
          </p:txBody>
        </p:sp>
      </p:grpSp>
      <p:grpSp>
        <p:nvGrpSpPr>
          <p:cNvPr id="33" name="object 5">
            <a:extLst>
              <a:ext uri="{FF2B5EF4-FFF2-40B4-BE49-F238E27FC236}">
                <a16:creationId xmlns:a16="http://schemas.microsoft.com/office/drawing/2014/main" id="{D5E02716-3095-31E0-A8B4-98538969B452}"/>
              </a:ext>
            </a:extLst>
          </p:cNvPr>
          <p:cNvGrpSpPr/>
          <p:nvPr/>
        </p:nvGrpSpPr>
        <p:grpSpPr>
          <a:xfrm>
            <a:off x="4113753" y="873052"/>
            <a:ext cx="3703796" cy="1854041"/>
            <a:chOff x="5475478" y="1185671"/>
            <a:chExt cx="4938395" cy="2472055"/>
          </a:xfrm>
        </p:grpSpPr>
        <p:pic>
          <p:nvPicPr>
            <p:cNvPr id="34" name="object 6">
              <a:extLst>
                <a:ext uri="{FF2B5EF4-FFF2-40B4-BE49-F238E27FC236}">
                  <a16:creationId xmlns:a16="http://schemas.microsoft.com/office/drawing/2014/main" id="{A1CA093A-8156-231B-C953-0CD66F5F0CA6}"/>
                </a:ext>
              </a:extLst>
            </p:cNvPr>
            <p:cNvPicPr/>
            <p:nvPr/>
          </p:nvPicPr>
          <p:blipFill>
            <a:blip r:embed="rId3" cstate="print"/>
            <a:stretch>
              <a:fillRect/>
            </a:stretch>
          </p:blipFill>
          <p:spPr>
            <a:xfrm>
              <a:off x="5873496" y="1185671"/>
              <a:ext cx="4539996" cy="1906524"/>
            </a:xfrm>
            <a:prstGeom prst="rect">
              <a:avLst/>
            </a:prstGeom>
          </p:spPr>
        </p:pic>
        <p:pic>
          <p:nvPicPr>
            <p:cNvPr id="35" name="object 7">
              <a:extLst>
                <a:ext uri="{FF2B5EF4-FFF2-40B4-BE49-F238E27FC236}">
                  <a16:creationId xmlns:a16="http://schemas.microsoft.com/office/drawing/2014/main" id="{E5E26C40-5D1A-DA77-C49A-7E9AC3BAEDD5}"/>
                </a:ext>
              </a:extLst>
            </p:cNvPr>
            <p:cNvPicPr/>
            <p:nvPr/>
          </p:nvPicPr>
          <p:blipFill>
            <a:blip r:embed="rId4" cstate="print"/>
            <a:stretch>
              <a:fillRect/>
            </a:stretch>
          </p:blipFill>
          <p:spPr>
            <a:xfrm>
              <a:off x="6009767" y="1307465"/>
              <a:ext cx="4334129" cy="1672463"/>
            </a:xfrm>
            <a:prstGeom prst="rect">
              <a:avLst/>
            </a:prstGeom>
          </p:spPr>
        </p:pic>
        <p:sp>
          <p:nvSpPr>
            <p:cNvPr id="36" name="object 8">
              <a:extLst>
                <a:ext uri="{FF2B5EF4-FFF2-40B4-BE49-F238E27FC236}">
                  <a16:creationId xmlns:a16="http://schemas.microsoft.com/office/drawing/2014/main" id="{C82B6B25-6B65-C645-3116-56D7E0D6EF46}"/>
                </a:ext>
              </a:extLst>
            </p:cNvPr>
            <p:cNvSpPr/>
            <p:nvPr/>
          </p:nvSpPr>
          <p:spPr>
            <a:xfrm>
              <a:off x="5485003" y="3138043"/>
              <a:ext cx="1700530" cy="510540"/>
            </a:xfrm>
            <a:custGeom>
              <a:avLst/>
              <a:gdLst/>
              <a:ahLst/>
              <a:cxnLst/>
              <a:rect l="l" t="t" r="r" b="b"/>
              <a:pathLst>
                <a:path w="1700529" h="510539">
                  <a:moveTo>
                    <a:pt x="1546987" y="0"/>
                  </a:moveTo>
                  <a:lnTo>
                    <a:pt x="0" y="0"/>
                  </a:lnTo>
                  <a:lnTo>
                    <a:pt x="153035" y="255016"/>
                  </a:lnTo>
                  <a:lnTo>
                    <a:pt x="0" y="510032"/>
                  </a:lnTo>
                  <a:lnTo>
                    <a:pt x="1546987" y="510032"/>
                  </a:lnTo>
                  <a:lnTo>
                    <a:pt x="1700022" y="255016"/>
                  </a:lnTo>
                  <a:lnTo>
                    <a:pt x="1546987" y="0"/>
                  </a:lnTo>
                  <a:close/>
                </a:path>
              </a:pathLst>
            </a:custGeom>
            <a:solidFill>
              <a:srgbClr val="E97031"/>
            </a:solidFill>
          </p:spPr>
          <p:txBody>
            <a:bodyPr wrap="square" lIns="0" tIns="0" rIns="0" bIns="0" rtlCol="0"/>
            <a:lstStyle/>
            <a:p>
              <a:endParaRPr/>
            </a:p>
          </p:txBody>
        </p:sp>
        <p:sp>
          <p:nvSpPr>
            <p:cNvPr id="37" name="object 9">
              <a:extLst>
                <a:ext uri="{FF2B5EF4-FFF2-40B4-BE49-F238E27FC236}">
                  <a16:creationId xmlns:a16="http://schemas.microsoft.com/office/drawing/2014/main" id="{BC0A4355-3379-B07D-7E70-B461F4B9FCD6}"/>
                </a:ext>
              </a:extLst>
            </p:cNvPr>
            <p:cNvSpPr/>
            <p:nvPr/>
          </p:nvSpPr>
          <p:spPr>
            <a:xfrm>
              <a:off x="5485003" y="3138043"/>
              <a:ext cx="1700530" cy="510540"/>
            </a:xfrm>
            <a:custGeom>
              <a:avLst/>
              <a:gdLst/>
              <a:ahLst/>
              <a:cxnLst/>
              <a:rect l="l" t="t" r="r" b="b"/>
              <a:pathLst>
                <a:path w="1700529" h="510539">
                  <a:moveTo>
                    <a:pt x="0" y="0"/>
                  </a:moveTo>
                  <a:lnTo>
                    <a:pt x="1546987" y="0"/>
                  </a:lnTo>
                  <a:lnTo>
                    <a:pt x="1700022" y="255016"/>
                  </a:lnTo>
                  <a:lnTo>
                    <a:pt x="1546987" y="510032"/>
                  </a:lnTo>
                  <a:lnTo>
                    <a:pt x="0" y="510032"/>
                  </a:lnTo>
                  <a:lnTo>
                    <a:pt x="153035" y="255016"/>
                  </a:lnTo>
                  <a:lnTo>
                    <a:pt x="0" y="0"/>
                  </a:lnTo>
                  <a:close/>
                </a:path>
              </a:pathLst>
            </a:custGeom>
            <a:ln w="19049">
              <a:solidFill>
                <a:srgbClr val="E97031"/>
              </a:solidFill>
            </a:ln>
          </p:spPr>
          <p:txBody>
            <a:bodyPr wrap="square" lIns="0" tIns="0" rIns="0" bIns="0" rtlCol="0"/>
            <a:lstStyle/>
            <a:p>
              <a:endParaRPr/>
            </a:p>
          </p:txBody>
        </p:sp>
      </p:grpSp>
      <p:grpSp>
        <p:nvGrpSpPr>
          <p:cNvPr id="38" name="object 26">
            <a:extLst>
              <a:ext uri="{FF2B5EF4-FFF2-40B4-BE49-F238E27FC236}">
                <a16:creationId xmlns:a16="http://schemas.microsoft.com/office/drawing/2014/main" id="{1402EDE2-18D5-6761-7D4F-B3922527E769}"/>
              </a:ext>
            </a:extLst>
          </p:cNvPr>
          <p:cNvGrpSpPr/>
          <p:nvPr/>
        </p:nvGrpSpPr>
        <p:grpSpPr>
          <a:xfrm>
            <a:off x="7647165" y="897714"/>
            <a:ext cx="1182053" cy="1370648"/>
            <a:chOff x="10177271" y="1205483"/>
            <a:chExt cx="1576070" cy="1827530"/>
          </a:xfrm>
        </p:grpSpPr>
        <p:pic>
          <p:nvPicPr>
            <p:cNvPr id="39" name="object 27">
              <a:extLst>
                <a:ext uri="{FF2B5EF4-FFF2-40B4-BE49-F238E27FC236}">
                  <a16:creationId xmlns:a16="http://schemas.microsoft.com/office/drawing/2014/main" id="{89D470DB-B74C-B55F-21FE-4A1E8A8E2053}"/>
                </a:ext>
              </a:extLst>
            </p:cNvPr>
            <p:cNvPicPr/>
            <p:nvPr/>
          </p:nvPicPr>
          <p:blipFill>
            <a:blip r:embed="rId5" cstate="print"/>
            <a:stretch>
              <a:fillRect/>
            </a:stretch>
          </p:blipFill>
          <p:spPr>
            <a:xfrm>
              <a:off x="10177271" y="1205483"/>
              <a:ext cx="1575816" cy="1827276"/>
            </a:xfrm>
            <a:prstGeom prst="rect">
              <a:avLst/>
            </a:prstGeom>
          </p:spPr>
        </p:pic>
        <p:pic>
          <p:nvPicPr>
            <p:cNvPr id="40" name="object 28">
              <a:extLst>
                <a:ext uri="{FF2B5EF4-FFF2-40B4-BE49-F238E27FC236}">
                  <a16:creationId xmlns:a16="http://schemas.microsoft.com/office/drawing/2014/main" id="{D057F7FC-18C8-42F0-5D18-B1D128FB6E4A}"/>
                </a:ext>
              </a:extLst>
            </p:cNvPr>
            <p:cNvPicPr/>
            <p:nvPr/>
          </p:nvPicPr>
          <p:blipFill>
            <a:blip r:embed="rId6" cstate="print"/>
            <a:stretch>
              <a:fillRect/>
            </a:stretch>
          </p:blipFill>
          <p:spPr>
            <a:xfrm>
              <a:off x="10344022" y="1327657"/>
              <a:ext cx="1339723" cy="1593214"/>
            </a:xfrm>
            <a:prstGeom prst="rect">
              <a:avLst/>
            </a:prstGeom>
          </p:spPr>
        </p:pic>
      </p:grpSp>
      <p:sp>
        <p:nvSpPr>
          <p:cNvPr id="23" name="object 24">
            <a:extLst>
              <a:ext uri="{FF2B5EF4-FFF2-40B4-BE49-F238E27FC236}">
                <a16:creationId xmlns:a16="http://schemas.microsoft.com/office/drawing/2014/main" id="{BE8B8F1A-1E5B-8D44-2E69-A2917EE7EC66}"/>
              </a:ext>
            </a:extLst>
          </p:cNvPr>
          <p:cNvSpPr txBox="1"/>
          <p:nvPr/>
        </p:nvSpPr>
        <p:spPr>
          <a:xfrm>
            <a:off x="4300013" y="2367729"/>
            <a:ext cx="4626769" cy="310181"/>
          </a:xfrm>
          <a:prstGeom prst="rect">
            <a:avLst/>
          </a:prstGeom>
        </p:spPr>
        <p:txBody>
          <a:bodyPr vert="horz" wrap="square" lIns="0" tIns="10001" rIns="0" bIns="0" rtlCol="0">
            <a:spAutoFit/>
          </a:bodyPr>
          <a:lstStyle/>
          <a:p>
            <a:pPr marL="9525">
              <a:spcBef>
                <a:spcPts val="79"/>
              </a:spcBef>
              <a:tabLst>
                <a:tab pos="1197769" algn="l"/>
                <a:tab pos="2466975" algn="l"/>
                <a:tab pos="3700939" algn="l"/>
              </a:tabLst>
            </a:pPr>
            <a:r>
              <a:rPr sz="1950" spc="-8" dirty="0">
                <a:solidFill>
                  <a:srgbClr val="FFFFFF"/>
                </a:solidFill>
                <a:latin typeface="Calibri"/>
                <a:cs typeface="Calibri"/>
              </a:rPr>
              <a:t>Identify</a:t>
            </a:r>
            <a:r>
              <a:rPr sz="1950" dirty="0">
                <a:solidFill>
                  <a:srgbClr val="FFFFFF"/>
                </a:solidFill>
                <a:latin typeface="Calibri"/>
                <a:cs typeface="Calibri"/>
              </a:rPr>
              <a:t>	</a:t>
            </a:r>
            <a:r>
              <a:rPr sz="1950" spc="41" dirty="0">
                <a:solidFill>
                  <a:srgbClr val="FFFFFF"/>
                </a:solidFill>
                <a:latin typeface="Calibri"/>
                <a:cs typeface="Calibri"/>
              </a:rPr>
              <a:t>Evaluate</a:t>
            </a:r>
            <a:r>
              <a:rPr sz="1950" dirty="0">
                <a:solidFill>
                  <a:srgbClr val="FFFFFF"/>
                </a:solidFill>
                <a:latin typeface="Calibri"/>
                <a:cs typeface="Calibri"/>
              </a:rPr>
              <a:t>	</a:t>
            </a:r>
            <a:r>
              <a:rPr sz="1950" spc="53" dirty="0">
                <a:solidFill>
                  <a:srgbClr val="FFFFFF"/>
                </a:solidFill>
                <a:latin typeface="Calibri"/>
                <a:cs typeface="Calibri"/>
              </a:rPr>
              <a:t>Propose</a:t>
            </a:r>
            <a:r>
              <a:rPr sz="1950" dirty="0">
                <a:solidFill>
                  <a:srgbClr val="FFFFFF"/>
                </a:solidFill>
                <a:latin typeface="Calibri"/>
                <a:cs typeface="Calibri"/>
              </a:rPr>
              <a:t>	</a:t>
            </a:r>
            <a:r>
              <a:rPr sz="1950" spc="26" dirty="0">
                <a:solidFill>
                  <a:srgbClr val="FFFFFF"/>
                </a:solidFill>
                <a:latin typeface="Calibri"/>
                <a:cs typeface="Calibri"/>
              </a:rPr>
              <a:t>Promote</a:t>
            </a:r>
            <a:endParaRPr sz="1950" dirty="0">
              <a:latin typeface="Calibri"/>
              <a:cs typeface="Calibri"/>
            </a:endParaRPr>
          </a:p>
        </p:txBody>
      </p:sp>
    </p:spTree>
    <p:extLst>
      <p:ext uri="{BB962C8B-B14F-4D97-AF65-F5344CB8AC3E}">
        <p14:creationId xmlns:p14="http://schemas.microsoft.com/office/powerpoint/2010/main" val="3291990820"/>
      </p:ext>
    </p:extLst>
  </p:cSld>
  <p:clrMapOvr>
    <a:masterClrMapping/>
  </p:clrMapOvr>
</p:sld>
</file>

<file path=ppt/theme/theme1.xml><?xml version="1.0" encoding="utf-8"?>
<a:theme xmlns:a="http://schemas.openxmlformats.org/drawingml/2006/main" name="IGL-presentation-16by9">
  <a:themeElements>
    <a:clrScheme name="Custom 3">
      <a:dk1>
        <a:srgbClr val="000000"/>
      </a:dk1>
      <a:lt1>
        <a:srgbClr val="FFFFFF"/>
      </a:lt1>
      <a:dk2>
        <a:srgbClr val="1F497D"/>
      </a:dk2>
      <a:lt2>
        <a:srgbClr val="EEECE1"/>
      </a:lt2>
      <a:accent1>
        <a:srgbClr val="4F81BD"/>
      </a:accent1>
      <a:accent2>
        <a:srgbClr val="C0504D"/>
      </a:accent2>
      <a:accent3>
        <a:srgbClr val="660066"/>
      </a:accent3>
      <a:accent4>
        <a:srgbClr val="69226B"/>
      </a:accent4>
      <a:accent5>
        <a:srgbClr val="4BACC6"/>
      </a:accent5>
      <a:accent6>
        <a:srgbClr val="F79646"/>
      </a:accent6>
      <a:hlink>
        <a:srgbClr val="0000FF"/>
      </a:hlink>
      <a:folHlink>
        <a:srgbClr val="800080"/>
      </a:folHlink>
    </a:clrScheme>
    <a:fontScheme name="Revolution">
      <a:majorFont>
        <a:latin typeface="Trebuchet MS"/>
        <a:ea typeface=""/>
        <a:cs typeface=""/>
        <a:font script="Jpan" typeface="ＭＳ ゴシック"/>
        <a:font script="Hans" typeface="宋体"/>
        <a:font script="Hant" typeface="新細明體"/>
      </a:majorFont>
      <a:minorFont>
        <a:latin typeface="Trebuchet MS"/>
        <a:ea typeface=""/>
        <a:cs typeface=""/>
        <a:font script="Jpan" typeface="ＭＳ ゴシック"/>
        <a:font script="Hans" typeface="宋体"/>
        <a:font script="Hant" typeface="新細明體"/>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87C81B"/>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A81467D58DDBB4B8E20ABA688D8DCD7" ma:contentTypeVersion="11" ma:contentTypeDescription="Create a new document." ma:contentTypeScope="" ma:versionID="1d1eafa9e6762c0c8bdca09c929b96bb">
  <xsd:schema xmlns:xsd="http://www.w3.org/2001/XMLSchema" xmlns:xs="http://www.w3.org/2001/XMLSchema" xmlns:p="http://schemas.microsoft.com/office/2006/metadata/properties" xmlns:ns2="cc3373cb-cec3-4f33-83f6-45a0fab92b82" xmlns:ns3="e600d660-4c0b-49a4-b1f1-4e4a2274adf3" targetNamespace="http://schemas.microsoft.com/office/2006/metadata/properties" ma:root="true" ma:fieldsID="687b4dd278f92380145989c6064f834b" ns2:_="" ns3:_="">
    <xsd:import namespace="cc3373cb-cec3-4f33-83f6-45a0fab92b82"/>
    <xsd:import namespace="e600d660-4c0b-49a4-b1f1-4e4a2274adf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3373cb-cec3-4f33-83f6-45a0fab92b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9188312-0417-45d7-9d0d-29911a677ebf"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600d660-4c0b-49a4-b1f1-4e4a2274adf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cb534af-abcb-4c26-8527-e8ca0c1517b5}" ma:internalName="TaxCatchAll" ma:showField="CatchAllData" ma:web="e600d660-4c0b-49a4-b1f1-4e4a2274adf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78C83E-6EE7-411F-9806-9779D8632D10}">
  <ds:schemaRefs>
    <ds:schemaRef ds:uri="http://schemas.microsoft.com/sharepoint/v3/contenttype/forms"/>
  </ds:schemaRefs>
</ds:datastoreItem>
</file>

<file path=customXml/itemProps2.xml><?xml version="1.0" encoding="utf-8"?>
<ds:datastoreItem xmlns:ds="http://schemas.openxmlformats.org/officeDocument/2006/customXml" ds:itemID="{9D31469A-3708-4B56-A160-AB79975D56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c3373cb-cec3-4f33-83f6-45a0fab92b82"/>
    <ds:schemaRef ds:uri="e600d660-4c0b-49a4-b1f1-4e4a2274ad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IGL-presentation-16by9.potx</Template>
  <TotalTime>774</TotalTime>
  <Words>862</Words>
  <Application>Microsoft Office PowerPoint</Application>
  <PresentationFormat>Affichage à l'écran (16:9)</PresentationFormat>
  <Paragraphs>51</Paragraphs>
  <Slides>5</Slides>
  <Notes>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5</vt:i4>
      </vt:variant>
    </vt:vector>
  </HeadingPairs>
  <TitlesOfParts>
    <vt:vector size="12" baseType="lpstr">
      <vt:lpstr>-apple-system</vt:lpstr>
      <vt:lpstr>Aptos</vt:lpstr>
      <vt:lpstr>Arial</vt:lpstr>
      <vt:lpstr>Calibri</vt:lpstr>
      <vt:lpstr>Trebuchet MS</vt:lpstr>
      <vt:lpstr>Wingdings</vt:lpstr>
      <vt:lpstr>IGL-presentation-16by9</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Yann Savoye</dc:creator>
  <cp:lastModifiedBy>Jules Didry</cp:lastModifiedBy>
  <cp:revision>1712</cp:revision>
  <dcterms:created xsi:type="dcterms:W3CDTF">2011-05-06T12:08:58Z</dcterms:created>
  <dcterms:modified xsi:type="dcterms:W3CDTF">2025-03-20T14:09:11Z</dcterms:modified>
</cp:coreProperties>
</file>