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0" r:id="rId1"/>
  </p:sldMasterIdLst>
  <p:notesMasterIdLst>
    <p:notesMasterId r:id="rId14"/>
  </p:notes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</p:sldIdLst>
  <p:sldSz cx="9144000" cy="5143500" type="screen16x9"/>
  <p:notesSz cx="6858000" cy="9144000"/>
  <p:embeddedFontLst>
    <p:embeddedFont>
      <p:font typeface="Lato" panose="020F0502020204030203" pitchFamily="34" charset="0"/>
      <p:regular r:id="rId15"/>
      <p:bold r:id="rId16"/>
      <p:italic r:id="rId17"/>
      <p:boldItalic r:id="rId18"/>
    </p:embeddedFont>
    <p:embeddedFont>
      <p:font typeface="Raleway" pitchFamily="2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77" y="21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 TITRE" type="title">
  <p:cSld name="DIAPO DE TITR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 dirty="0"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 dirty="0"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pic>
        <p:nvPicPr>
          <p:cNvPr id="17" name="Google Shape;17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75" y="3899839"/>
            <a:ext cx="9144003" cy="125462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8EEB2D88-88C7-0774-3C04-0236839C7C93}"/>
              </a:ext>
            </a:extLst>
          </p:cNvPr>
          <p:cNvSpPr txBox="1"/>
          <p:nvPr userDrawn="1"/>
        </p:nvSpPr>
        <p:spPr>
          <a:xfrm>
            <a:off x="7435517" y="4815846"/>
            <a:ext cx="1305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/>
              <a:t>DIDRY Jules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 GENERALE" userDrawn="1">
  <p:cSld name="DIAPO DE BAS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" name="Google Shape;20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1" name="Google Shape;21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" name="Google Shape;23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2">
            <a:alphaModFix/>
          </a:blip>
          <a:srcRect t="28067" r="14133"/>
          <a:stretch/>
        </p:blipFill>
        <p:spPr>
          <a:xfrm>
            <a:off x="118600" y="4608300"/>
            <a:ext cx="4656425" cy="535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3"/>
          <p:cNvSpPr txBox="1"/>
          <p:nvPr/>
        </p:nvSpPr>
        <p:spPr>
          <a:xfrm>
            <a:off x="7777650" y="4744800"/>
            <a:ext cx="17853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DIDRY Jules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" name="Google Shape;14;p2">
            <a:extLst>
              <a:ext uri="{FF2B5EF4-FFF2-40B4-BE49-F238E27FC236}">
                <a16:creationId xmlns:a16="http://schemas.microsoft.com/office/drawing/2014/main" id="{8E9BD7C0-8FA4-50C8-E086-71D639C39C6D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830392" y="547798"/>
            <a:ext cx="7474346" cy="685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391E3EB-7F57-FAB0-226F-05AA863AA6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0263" y="1414463"/>
            <a:ext cx="7473950" cy="2984500"/>
          </a:xfrm>
        </p:spPr>
        <p:txBody>
          <a:bodyPr/>
          <a:lstStyle>
            <a:lvl1pPr marL="146050" indent="0">
              <a:buNone/>
              <a:defRPr/>
            </a:lvl1pPr>
          </a:lstStyle>
          <a:p>
            <a:pPr lvl="0"/>
            <a:r>
              <a:rPr lang="fr-FR" dirty="0"/>
              <a:t>Insérez votre texte ici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 GENERALE" preserve="1" userDrawn="1">
  <p:cSld name="DIAPO SOMMAIR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" name="Google Shape;20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1" name="Google Shape;21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" name="Google Shape;23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2">
            <a:alphaModFix/>
          </a:blip>
          <a:srcRect t="28067" r="14133"/>
          <a:stretch/>
        </p:blipFill>
        <p:spPr>
          <a:xfrm>
            <a:off x="118600" y="4608300"/>
            <a:ext cx="4656425" cy="535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3"/>
          <p:cNvSpPr txBox="1"/>
          <p:nvPr/>
        </p:nvSpPr>
        <p:spPr>
          <a:xfrm>
            <a:off x="7777650" y="4744800"/>
            <a:ext cx="17853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DIDRY Jules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" name="Google Shape;14;p2">
            <a:extLst>
              <a:ext uri="{FF2B5EF4-FFF2-40B4-BE49-F238E27FC236}">
                <a16:creationId xmlns:a16="http://schemas.microsoft.com/office/drawing/2014/main" id="{8E9BD7C0-8FA4-50C8-E086-71D639C39C6D}"/>
              </a:ext>
            </a:extLst>
          </p:cNvPr>
          <p:cNvSpPr txBox="1">
            <a:spLocks noGrp="1"/>
          </p:cNvSpPr>
          <p:nvPr>
            <p:ph type="ctrTitle" hasCustomPrompt="1"/>
          </p:nvPr>
        </p:nvSpPr>
        <p:spPr>
          <a:xfrm>
            <a:off x="830392" y="547798"/>
            <a:ext cx="7474346" cy="685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r>
              <a:rPr lang="fr-FR" dirty="0"/>
              <a:t>TITRE DE VOTRE SOMMAIRE</a:t>
            </a:r>
            <a:endParaRPr dirty="0"/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36CA1F8B-795B-4E87-ED66-55068D9BC4B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2650" y="1436688"/>
            <a:ext cx="7421563" cy="3159125"/>
          </a:xfrm>
        </p:spPr>
        <p:txBody>
          <a:bodyPr/>
          <a:lstStyle>
            <a:lvl1pPr marL="431800" indent="-285750">
              <a:buFontTx/>
              <a:buChar char="-"/>
              <a:defRPr/>
            </a:lvl1pPr>
            <a:lvl2pPr marL="787400" indent="-171450">
              <a:buFontTx/>
              <a:buChar char="-"/>
              <a:defRPr/>
            </a:lvl2pPr>
          </a:lstStyle>
          <a:p>
            <a:pPr lvl="0"/>
            <a:r>
              <a:rPr lang="fr-FR" dirty="0"/>
              <a:t>Niveau 1 du sommaire </a:t>
            </a:r>
          </a:p>
          <a:p>
            <a:pPr lvl="1"/>
            <a:r>
              <a:rPr lang="fr-FR" dirty="0"/>
              <a:t>CONTENU 1 </a:t>
            </a:r>
          </a:p>
          <a:p>
            <a:pPr lvl="1"/>
            <a:r>
              <a:rPr lang="fr-FR" dirty="0"/>
              <a:t>CONTENU 2</a:t>
            </a:r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16079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 GENERALE" preserve="1" userDrawn="1">
  <p:cSld name="DIAPO DE FOND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" name="Google Shape;20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1" name="Google Shape;21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" name="Google Shape;23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2">
            <a:alphaModFix/>
          </a:blip>
          <a:srcRect t="28067" r="14133"/>
          <a:stretch/>
        </p:blipFill>
        <p:spPr>
          <a:xfrm>
            <a:off x="118600" y="4608300"/>
            <a:ext cx="4656425" cy="535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3"/>
          <p:cNvSpPr txBox="1"/>
          <p:nvPr/>
        </p:nvSpPr>
        <p:spPr>
          <a:xfrm>
            <a:off x="7777650" y="4744800"/>
            <a:ext cx="17853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DIDRY Jules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8256053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3" r:id="rId3"/>
    <p:sldLayoutId id="2147483652" r:id="rId4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C732076E-A33B-96E2-329A-C1AF5FC45B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E-Book</a:t>
            </a:r>
            <a:br>
              <a:rPr lang="fr-FR" dirty="0"/>
            </a:br>
            <a:r>
              <a:rPr lang="fr-FR" sz="2400" dirty="0"/>
              <a:t>Comment faire une bonne présentation PowerPoint</a:t>
            </a:r>
            <a:endParaRPr lang="fr-FR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6E59969B-51AE-CEE8-3D95-29F941047AE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667108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C68BC9AC-3490-59F4-EAEB-16A06526A6B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2</a:t>
            </a:fld>
            <a:endParaRPr lang="fr-FR"/>
          </a:p>
        </p:txBody>
      </p:sp>
      <p:sp>
        <p:nvSpPr>
          <p:cNvPr id="11" name="Titre 10">
            <a:extLst>
              <a:ext uri="{FF2B5EF4-FFF2-40B4-BE49-F238E27FC236}">
                <a16:creationId xmlns:a16="http://schemas.microsoft.com/office/drawing/2014/main" id="{6B5D192F-70F9-33E6-63B3-B20C22DF03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🎯 - Objectifs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F8EAFC50-5756-3E8D-A534-18CB7978270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146050" indent="0">
              <a:buNone/>
            </a:pPr>
            <a:r>
              <a:rPr lang="fr-FR" b="1" u="sng" dirty="0">
                <a:latin typeface="+mj-lt"/>
              </a:rPr>
              <a:t>1 - Comprendre les éléments essentiels d’un bon diaporama</a:t>
            </a:r>
          </a:p>
          <a:p>
            <a:pPr marL="146050" indent="0">
              <a:buNone/>
            </a:pPr>
            <a:r>
              <a:rPr lang="fr-FR" dirty="0">
                <a:latin typeface="+mj-lt"/>
              </a:rPr>
              <a:t>	</a:t>
            </a:r>
            <a:r>
              <a:rPr lang="fr-FR" dirty="0">
                <a:latin typeface="+mj-lt"/>
                <a:sym typeface="Wingdings" panose="05000000000000000000" pitchFamily="2" charset="2"/>
              </a:rPr>
              <a:t> Savoir identifier les éléments indispensables pour une</a:t>
            </a:r>
          </a:p>
          <a:p>
            <a:pPr marL="146050" indent="0">
              <a:buNone/>
            </a:pPr>
            <a:r>
              <a:rPr lang="fr-FR" dirty="0">
                <a:latin typeface="+mj-lt"/>
                <a:sym typeface="Wingdings" panose="05000000000000000000" pitchFamily="2" charset="2"/>
              </a:rPr>
              <a:t>		présentation efficace </a:t>
            </a:r>
          </a:p>
          <a:p>
            <a:pPr marL="146050" indent="0">
              <a:buNone/>
            </a:pPr>
            <a:endParaRPr lang="fr-FR" dirty="0">
              <a:latin typeface="+mj-lt"/>
              <a:sym typeface="Wingdings" panose="05000000000000000000" pitchFamily="2" charset="2"/>
            </a:endParaRPr>
          </a:p>
          <a:p>
            <a:pPr marL="146050" indent="0">
              <a:buNone/>
            </a:pPr>
            <a:r>
              <a:rPr lang="fr-FR" b="1" u="sng" dirty="0">
                <a:latin typeface="+mj-lt"/>
                <a:sym typeface="Wingdings" panose="05000000000000000000" pitchFamily="2" charset="2"/>
              </a:rPr>
              <a:t>2 – Améliorer la clarté et l’impact visuel</a:t>
            </a:r>
          </a:p>
          <a:p>
            <a:pPr marL="146050" indent="0">
              <a:buNone/>
            </a:pPr>
            <a:r>
              <a:rPr lang="fr-FR" dirty="0">
                <a:latin typeface="+mj-lt"/>
                <a:sym typeface="Wingdings" panose="05000000000000000000" pitchFamily="2" charset="2"/>
              </a:rPr>
              <a:t>	 Découvrir comment rendre les diapositives plus </a:t>
            </a:r>
          </a:p>
          <a:p>
            <a:pPr marL="146050" indent="0">
              <a:buNone/>
            </a:pPr>
            <a:r>
              <a:rPr lang="fr-FR" dirty="0">
                <a:latin typeface="+mj-lt"/>
                <a:sym typeface="Wingdings" panose="05000000000000000000" pitchFamily="2" charset="2"/>
              </a:rPr>
              <a:t>		lisible et attrayante</a:t>
            </a:r>
          </a:p>
          <a:p>
            <a:pPr marL="146050" indent="0">
              <a:buNone/>
            </a:pPr>
            <a:endParaRPr lang="fr-FR" dirty="0">
              <a:latin typeface="+mj-lt"/>
              <a:sym typeface="Wingdings" panose="05000000000000000000" pitchFamily="2" charset="2"/>
            </a:endParaRPr>
          </a:p>
          <a:p>
            <a:pPr marL="146050" indent="0">
              <a:buNone/>
            </a:pPr>
            <a:r>
              <a:rPr lang="fr-FR" b="1" u="sng" dirty="0">
                <a:latin typeface="+mj-lt"/>
                <a:sym typeface="Wingdings" panose="05000000000000000000" pitchFamily="2" charset="2"/>
              </a:rPr>
              <a:t>3- Eviter les erreurs courantes</a:t>
            </a:r>
          </a:p>
          <a:p>
            <a:pPr marL="146050" indent="0">
              <a:buNone/>
            </a:pPr>
            <a:r>
              <a:rPr lang="fr-FR" dirty="0">
                <a:latin typeface="+mj-lt"/>
                <a:sym typeface="Wingdings" panose="05000000000000000000" pitchFamily="2" charset="2"/>
              </a:rPr>
              <a:t>	 Reconnaître et corriger les pièges à éviter </a:t>
            </a:r>
          </a:p>
          <a:p>
            <a:pPr marL="146050" indent="0">
              <a:buNone/>
            </a:pPr>
            <a:r>
              <a:rPr lang="fr-FR" dirty="0">
                <a:latin typeface="+mj-lt"/>
                <a:sym typeface="Wingdings" panose="05000000000000000000" pitchFamily="2" charset="2"/>
              </a:rPr>
              <a:t>		pour garder l’attention de l’audience</a:t>
            </a:r>
          </a:p>
        </p:txBody>
      </p:sp>
    </p:spTree>
    <p:extLst>
      <p:ext uri="{BB962C8B-B14F-4D97-AF65-F5344CB8AC3E}">
        <p14:creationId xmlns:p14="http://schemas.microsoft.com/office/powerpoint/2010/main" val="18146035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94578B0F-9FC0-6D8F-5D99-FAF1BC74A47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3</a:t>
            </a:fld>
            <a:endParaRPr lang="fr-FR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D8C8402E-6AEC-996C-BCD9-4019A5D69E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Connaitre son public 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85A6F75-3E51-9200-6EB8-EEF4F914A44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146050" indent="0">
              <a:buNone/>
            </a:pPr>
            <a:r>
              <a:rPr lang="fr-FR" dirty="0"/>
              <a:t>1 – Identifiez son audience</a:t>
            </a:r>
          </a:p>
          <a:p>
            <a:pPr marL="146050" indent="0">
              <a:buNone/>
            </a:pPr>
            <a:r>
              <a:rPr lang="fr-FR" dirty="0"/>
              <a:t>	</a:t>
            </a:r>
            <a:r>
              <a:rPr lang="fr-FR" dirty="0">
                <a:sym typeface="Wingdings" panose="05000000000000000000" pitchFamily="2" charset="2"/>
              </a:rPr>
              <a:t> Quel profil : Professionnel, étudiant, etc..</a:t>
            </a:r>
          </a:p>
          <a:p>
            <a:pPr marL="146050" indent="0">
              <a:buNone/>
            </a:pPr>
            <a:endParaRPr lang="fr-FR" dirty="0">
              <a:sym typeface="Wingdings" panose="05000000000000000000" pitchFamily="2" charset="2"/>
            </a:endParaRPr>
          </a:p>
          <a:p>
            <a:pPr marL="146050" indent="0">
              <a:buNone/>
            </a:pPr>
            <a:r>
              <a:rPr lang="fr-FR" dirty="0">
                <a:sym typeface="Wingdings" panose="05000000000000000000" pitchFamily="2" charset="2"/>
              </a:rPr>
              <a:t>2 – Adaptez son ton et son style </a:t>
            </a:r>
          </a:p>
          <a:p>
            <a:pPr marL="146050" indent="0">
              <a:buNone/>
            </a:pPr>
            <a:r>
              <a:rPr lang="fr-FR" dirty="0">
                <a:sym typeface="Wingdings" panose="05000000000000000000" pitchFamily="2" charset="2"/>
              </a:rPr>
              <a:t>	 En fonction de l’audience adapter son langage et vocabulaire</a:t>
            </a:r>
          </a:p>
          <a:p>
            <a:pPr marL="146050" indent="0">
              <a:buNone/>
            </a:pPr>
            <a:endParaRPr lang="fr-FR" dirty="0">
              <a:sym typeface="Wingdings" panose="05000000000000000000" pitchFamily="2" charset="2"/>
            </a:endParaRPr>
          </a:p>
          <a:p>
            <a:pPr marL="146050" indent="0">
              <a:buNone/>
            </a:pPr>
            <a:r>
              <a:rPr lang="fr-FR" dirty="0">
                <a:sym typeface="Wingdings" panose="05000000000000000000" pitchFamily="2" charset="2"/>
              </a:rPr>
              <a:t>3 – Se poser la question </a:t>
            </a:r>
          </a:p>
          <a:p>
            <a:pPr marL="146050" indent="0">
              <a:buNone/>
            </a:pPr>
            <a:r>
              <a:rPr lang="fr-FR" dirty="0">
                <a:sym typeface="Wingdings" panose="05000000000000000000" pitchFamily="2" charset="2"/>
              </a:rPr>
              <a:t>	 Avec quoi l’audience doit sortir de la présentation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479119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3033932-2DF4-1BBD-F5A3-0AA6E4FC0B6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4</a:t>
            </a:fld>
            <a:endParaRPr lang="fr-FR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AE764DB5-C85B-7636-8BF7-2E3F7CDF19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Avoir un contenu simple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0FAF872-6687-94DC-BD26-64095CE17B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146050" indent="0">
              <a:buNone/>
            </a:pPr>
            <a:r>
              <a:rPr lang="fr-FR" dirty="0">
                <a:sym typeface="Wingdings" panose="05000000000000000000" pitchFamily="2" charset="2"/>
              </a:rPr>
              <a:t>Une idée phare </a:t>
            </a:r>
          </a:p>
          <a:p>
            <a:pPr marL="1073150" lvl="2" indent="0">
              <a:buNone/>
            </a:pPr>
            <a:r>
              <a:rPr lang="fr-FR" dirty="0">
                <a:sym typeface="Wingdings" panose="05000000000000000000" pitchFamily="2" charset="2"/>
              </a:rPr>
              <a:t>Résumez là avec des phrases courtes </a:t>
            </a:r>
          </a:p>
          <a:p>
            <a:pPr marL="1073150" lvl="2" indent="0">
              <a:buNone/>
            </a:pPr>
            <a:r>
              <a:rPr lang="fr-FR" dirty="0">
                <a:sym typeface="Wingdings" panose="05000000000000000000" pitchFamily="2" charset="2"/>
              </a:rPr>
              <a:t>	Si besoin de listes utilisez des puces pour la lisibilité</a:t>
            </a:r>
          </a:p>
          <a:p>
            <a:pPr marL="1073150" lvl="2" indent="0">
              <a:buNone/>
            </a:pPr>
            <a:endParaRPr lang="fr-FR" dirty="0">
              <a:sym typeface="Wingdings" panose="05000000000000000000" pitchFamily="2" charset="2"/>
            </a:endParaRPr>
          </a:p>
          <a:p>
            <a:pPr marL="1073150" lvl="2" indent="0">
              <a:buNone/>
            </a:pPr>
            <a:endParaRPr lang="fr-FR" dirty="0">
              <a:sym typeface="Wingdings" panose="05000000000000000000" pitchFamily="2" charset="2"/>
            </a:endParaRPr>
          </a:p>
          <a:p>
            <a:pPr marL="1073150" lvl="2" indent="0">
              <a:buNone/>
            </a:pPr>
            <a:endParaRPr lang="fr-FR" dirty="0">
              <a:sym typeface="Wingdings" panose="05000000000000000000" pitchFamily="2" charset="2"/>
            </a:endParaRPr>
          </a:p>
          <a:p>
            <a:pPr marL="1073150" lvl="2" indent="0">
              <a:buNone/>
            </a:pPr>
            <a:r>
              <a:rPr lang="fr-FR" dirty="0">
                <a:sym typeface="Wingdings" panose="05000000000000000000" pitchFamily="2" charset="2"/>
              </a:rPr>
              <a:t>On va toujours éviter les phrases longues dans une présentation</a:t>
            </a:r>
          </a:p>
          <a:p>
            <a:pPr lvl="4">
              <a:buFont typeface="Wingdings" panose="05000000000000000000" pitchFamily="2" charset="2"/>
              <a:buChar char="à"/>
            </a:pPr>
            <a:endParaRPr lang="fr-FR" dirty="0">
              <a:sym typeface="Wingdings" panose="05000000000000000000" pitchFamily="2" charset="2"/>
            </a:endParaRPr>
          </a:p>
          <a:p>
            <a:pPr lvl="4">
              <a:buFont typeface="Wingdings" panose="05000000000000000000" pitchFamily="2" charset="2"/>
              <a:buChar char="à"/>
            </a:pPr>
            <a:endParaRPr lang="fr-FR" dirty="0">
              <a:sym typeface="Wingdings" panose="05000000000000000000" pitchFamily="2" charset="2"/>
            </a:endParaRPr>
          </a:p>
          <a:p>
            <a:pPr lvl="4">
              <a:buFont typeface="Wingdings" panose="05000000000000000000" pitchFamily="2" charset="2"/>
              <a:buChar char="à"/>
            </a:pPr>
            <a:endParaRPr lang="fr-FR" dirty="0">
              <a:sym typeface="Wingdings" panose="05000000000000000000" pitchFamily="2" charset="2"/>
            </a:endParaRPr>
          </a:p>
          <a:p>
            <a:pPr lvl="4">
              <a:buFont typeface="Wingdings" panose="05000000000000000000" pitchFamily="2" charset="2"/>
              <a:buChar char="à"/>
            </a:pPr>
            <a:endParaRPr lang="fr-FR" dirty="0">
              <a:sym typeface="Wingdings" panose="05000000000000000000" pitchFamily="2" charset="2"/>
            </a:endParaRPr>
          </a:p>
          <a:p>
            <a:pPr lvl="4">
              <a:buFont typeface="Wingdings" panose="05000000000000000000" pitchFamily="2" charset="2"/>
              <a:buChar char="à"/>
            </a:pPr>
            <a:endParaRPr lang="fr-FR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5771750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FB45A2D0-0627-EAE5-3B14-A910EE51134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5</a:t>
            </a:fld>
            <a:endParaRPr lang="fr-FR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EAC39FFE-C991-85D4-2011-FFF3ED3D14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867" y="547687"/>
            <a:ext cx="7474346" cy="685575"/>
          </a:xfrm>
        </p:spPr>
        <p:txBody>
          <a:bodyPr/>
          <a:lstStyle/>
          <a:p>
            <a:r>
              <a:rPr lang="fr-FR" dirty="0"/>
              <a:t>Ayez un design attrayant 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A8B4858-E535-4961-D81B-A3D94F4173D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146050" indent="0">
              <a:buNone/>
            </a:pPr>
            <a:r>
              <a:rPr lang="fr-FR" dirty="0"/>
              <a:t>Choisir une charte graphique : </a:t>
            </a:r>
          </a:p>
          <a:p>
            <a:pPr marL="146050" indent="0">
              <a:buNone/>
            </a:pPr>
            <a:r>
              <a:rPr lang="fr-FR" dirty="0"/>
              <a:t>               S’assurez que les couleurs, styles et polices soient cohérentes entre elles.</a:t>
            </a:r>
          </a:p>
          <a:p>
            <a:pPr marL="146050" indent="0">
              <a:buNone/>
            </a:pPr>
            <a:endParaRPr lang="fr-FR" dirty="0"/>
          </a:p>
          <a:p>
            <a:pPr marL="146050" indent="0">
              <a:buNone/>
            </a:pPr>
            <a:endParaRPr lang="fr-FR" dirty="0"/>
          </a:p>
          <a:p>
            <a:pPr marL="146050" indent="0">
              <a:buNone/>
            </a:pPr>
            <a:r>
              <a:rPr lang="fr-FR" dirty="0"/>
              <a:t>Choisir des couleurs contrastées : </a:t>
            </a:r>
          </a:p>
          <a:p>
            <a:pPr marL="146050" indent="0">
              <a:buNone/>
            </a:pPr>
            <a:r>
              <a:rPr lang="fr-FR" dirty="0"/>
              <a:t>               Elles servent pour montrer des points importants de la présentation.</a:t>
            </a:r>
          </a:p>
          <a:p>
            <a:pPr marL="146050" indent="0">
              <a:buNone/>
            </a:pPr>
            <a:endParaRPr lang="fr-FR" dirty="0"/>
          </a:p>
          <a:p>
            <a:pPr marL="146050" indent="0">
              <a:buNone/>
            </a:pPr>
            <a:endParaRPr lang="fr-FR" dirty="0"/>
          </a:p>
          <a:p>
            <a:pPr marL="146050" indent="0">
              <a:buNone/>
            </a:pPr>
            <a:r>
              <a:rPr lang="fr-FR" dirty="0"/>
              <a:t>Moins de polices : </a:t>
            </a:r>
          </a:p>
          <a:p>
            <a:pPr marL="146050" indent="0">
              <a:buNone/>
            </a:pPr>
            <a:r>
              <a:rPr lang="fr-FR" dirty="0"/>
              <a:t>               Utilisez au maximum 3 polices pour garder un bon aspect</a:t>
            </a:r>
          </a:p>
          <a:p>
            <a:pPr marL="615950" lvl="1" indent="0">
              <a:buNone/>
            </a:pPr>
            <a:endParaRPr lang="fr-FR" dirty="0"/>
          </a:p>
          <a:p>
            <a:pPr marL="615950" lvl="1" indent="0">
              <a:buNone/>
            </a:pPr>
            <a:endParaRPr lang="fr-FR" dirty="0"/>
          </a:p>
          <a:p>
            <a:pPr marL="615950" lvl="1" indent="0">
              <a:buNone/>
            </a:pPr>
            <a:endParaRPr lang="fr-FR" dirty="0"/>
          </a:p>
          <a:p>
            <a:pPr marL="615950" lvl="1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394334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629752A1-27BE-DC7C-8E24-F7BC5677BB0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6</a:t>
            </a:fld>
            <a:endParaRPr lang="fr-FR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4D368EC9-ABC1-223C-E9BE-FBFADADB11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Utilisez des vidéos et images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E965259-C240-C2A6-BF5F-047B85D9CC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146050" indent="0">
              <a:buNone/>
            </a:pPr>
            <a:r>
              <a:rPr lang="fr-FR" dirty="0"/>
              <a:t>Haute qualité </a:t>
            </a:r>
            <a:r>
              <a:rPr lang="fr-FR" dirty="0">
                <a:sym typeface="Wingdings" panose="05000000000000000000" pitchFamily="2" charset="2"/>
              </a:rPr>
              <a:t></a:t>
            </a:r>
          </a:p>
          <a:p>
            <a:pPr marL="146050" indent="0">
              <a:buNone/>
            </a:pPr>
            <a:r>
              <a:rPr lang="fr-FR" dirty="0">
                <a:sym typeface="Wingdings" panose="05000000000000000000" pitchFamily="2" charset="2"/>
              </a:rPr>
              <a:t>	Eviter les images et vidéos en faible résolution</a:t>
            </a:r>
          </a:p>
          <a:p>
            <a:pPr marL="146050" indent="0">
              <a:buNone/>
            </a:pPr>
            <a:endParaRPr lang="fr-FR" dirty="0">
              <a:sym typeface="Wingdings" panose="05000000000000000000" pitchFamily="2" charset="2"/>
            </a:endParaRPr>
          </a:p>
          <a:p>
            <a:pPr marL="146050" indent="0">
              <a:buNone/>
            </a:pPr>
            <a:endParaRPr lang="fr-FR" dirty="0">
              <a:sym typeface="Wingdings" panose="05000000000000000000" pitchFamily="2" charset="2"/>
            </a:endParaRPr>
          </a:p>
          <a:p>
            <a:pPr marL="146050" indent="0">
              <a:buNone/>
            </a:pPr>
            <a:r>
              <a:rPr lang="fr-FR" dirty="0">
                <a:sym typeface="Wingdings" panose="05000000000000000000" pitchFamily="2" charset="2"/>
              </a:rPr>
              <a:t>Intégrez des vidéos </a:t>
            </a:r>
          </a:p>
          <a:p>
            <a:pPr marL="146050" indent="0">
              <a:buNone/>
            </a:pPr>
            <a:r>
              <a:rPr lang="fr-FR" dirty="0">
                <a:sym typeface="Wingdings" panose="05000000000000000000" pitchFamily="2" charset="2"/>
              </a:rPr>
              <a:t>	L’utilisation de vidéos courtes ou gif pour illustrer un sujet </a:t>
            </a:r>
          </a:p>
          <a:p>
            <a:pPr marL="146050" indent="0">
              <a:buNone/>
            </a:pPr>
            <a:endParaRPr lang="fr-FR" dirty="0">
              <a:sym typeface="Wingdings" panose="05000000000000000000" pitchFamily="2" charset="2"/>
            </a:endParaRPr>
          </a:p>
          <a:p>
            <a:pPr marL="146050" indent="0">
              <a:buNone/>
            </a:pPr>
            <a:endParaRPr lang="fr-FR" dirty="0">
              <a:sym typeface="Wingdings" panose="05000000000000000000" pitchFamily="2" charset="2"/>
            </a:endParaRPr>
          </a:p>
          <a:p>
            <a:pPr marL="146050" indent="0">
              <a:buNone/>
            </a:pPr>
            <a:r>
              <a:rPr lang="fr-FR" dirty="0">
                <a:sym typeface="Wingdings" panose="05000000000000000000" pitchFamily="2" charset="2"/>
              </a:rPr>
              <a:t>Utilisez des images modernes ou photos réalistes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687395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CD9462A1-8B47-26C1-1536-538E9CC6302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7</a:t>
            </a:fld>
            <a:endParaRPr lang="fr-FR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93E1A8AB-9163-9146-34A4-82BC5D5FE4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Utilisez l’animation correctement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7D9BCF1-8E17-A29F-33BE-84932B01AC9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dirty="0"/>
              <a:t>Pas d’animation compliqués, il vaut mieux utiliser des animations simples comme le fondu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Exactement le même principe pour les transitions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Evitez la surcharge des diapositives au niveau de animation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631789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C1B44681-43F0-5A90-1D29-5E5882819F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8</a:t>
            </a:fld>
            <a:endParaRPr lang="fr-FR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7160C70D-01F7-366C-8439-8740FE8B4C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Utilisation des graphiques et tableaux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5C665B3-A470-5A4A-6A17-4D43D3E0B3C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dirty="0"/>
              <a:t>Ne pas utilisez trop de graphiques et tableaux</a:t>
            </a:r>
          </a:p>
          <a:p>
            <a:r>
              <a:rPr lang="fr-FR" dirty="0"/>
              <a:t>Utilisez les bons types de graphiques pour être le plus lisible</a:t>
            </a:r>
          </a:p>
          <a:p>
            <a:pPr marL="146050" indent="0">
              <a:buNone/>
            </a:pPr>
            <a:endParaRPr lang="fr-FR" dirty="0"/>
          </a:p>
        </p:txBody>
      </p:sp>
      <p:pic>
        <p:nvPicPr>
          <p:cNvPr id="6" name="Image 5" descr="Une image contenant texte, ligne, Tracé, Police&#10;&#10;Le contenu généré par l’IA peut être incorrect.">
            <a:extLst>
              <a:ext uri="{FF2B5EF4-FFF2-40B4-BE49-F238E27FC236}">
                <a16:creationId xmlns:a16="http://schemas.microsoft.com/office/drawing/2014/main" id="{3D4C6416-2BD4-569B-0FA7-4E92D004FD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392" y="2150772"/>
            <a:ext cx="3713978" cy="2232338"/>
          </a:xfrm>
          <a:prstGeom prst="rect">
            <a:avLst/>
          </a:prstGeom>
        </p:spPr>
      </p:pic>
      <p:pic>
        <p:nvPicPr>
          <p:cNvPr id="8" name="Image 7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92A1E4DA-FE2E-76CC-9041-906699222D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39" t="17781" b="15692"/>
          <a:stretch/>
        </p:blipFill>
        <p:spPr>
          <a:xfrm>
            <a:off x="4651066" y="2238240"/>
            <a:ext cx="4101136" cy="2057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7172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2BE8132F-56FC-A7D6-8BBB-3C6D1CFA9C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9</a:t>
            </a:fld>
            <a:endParaRPr lang="fr-FR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E63F5158-3F31-9E52-91F0-C2FC59A642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Organiser son discours 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AC6B81B-2E5C-5AA9-364F-AB8DF69425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0392" y="1436577"/>
            <a:ext cx="7421563" cy="3159125"/>
          </a:xfrm>
        </p:spPr>
        <p:txBody>
          <a:bodyPr/>
          <a:lstStyle/>
          <a:p>
            <a:pPr marL="146050" indent="0">
              <a:buNone/>
            </a:pPr>
            <a:r>
              <a:rPr lang="fr-FR" dirty="0"/>
              <a:t> 1 </a:t>
            </a:r>
            <a:r>
              <a:rPr lang="fr-FR" dirty="0">
                <a:sym typeface="Wingdings" panose="05000000000000000000" pitchFamily="2" charset="2"/>
              </a:rPr>
              <a:t>– Une introduction claire et précise : </a:t>
            </a:r>
          </a:p>
          <a:p>
            <a:pPr marL="146050" indent="0">
              <a:buNone/>
            </a:pPr>
            <a:r>
              <a:rPr lang="fr-FR" dirty="0">
                <a:sym typeface="Wingdings" panose="05000000000000000000" pitchFamily="2" charset="2"/>
              </a:rPr>
              <a:t>	But et objectif de votre présentation</a:t>
            </a:r>
          </a:p>
          <a:p>
            <a:pPr marL="146050" indent="0">
              <a:buNone/>
            </a:pPr>
            <a:r>
              <a:rPr lang="fr-FR" dirty="0">
                <a:sym typeface="Wingdings" panose="05000000000000000000" pitchFamily="2" charset="2"/>
              </a:rPr>
              <a:t> 2 – Un développement cohérent : </a:t>
            </a:r>
          </a:p>
          <a:p>
            <a:pPr marL="146050" indent="0">
              <a:buNone/>
            </a:pPr>
            <a:r>
              <a:rPr lang="fr-FR" dirty="0">
                <a:sym typeface="Wingdings" panose="05000000000000000000" pitchFamily="2" charset="2"/>
              </a:rPr>
              <a:t>	Organisez les idées principales</a:t>
            </a:r>
          </a:p>
          <a:p>
            <a:pPr marL="146050" indent="0">
              <a:buNone/>
            </a:pPr>
            <a:r>
              <a:rPr lang="fr-FR" dirty="0">
                <a:sym typeface="Wingdings" panose="05000000000000000000" pitchFamily="2" charset="2"/>
              </a:rPr>
              <a:t> 3 – Conclusion : </a:t>
            </a:r>
          </a:p>
          <a:p>
            <a:pPr marL="146050" indent="0">
              <a:buNone/>
            </a:pPr>
            <a:r>
              <a:rPr lang="fr-FR" dirty="0">
                <a:sym typeface="Wingdings" panose="05000000000000000000" pitchFamily="2" charset="2"/>
              </a:rPr>
              <a:t>	Finir sur une synthèse des idées</a:t>
            </a:r>
          </a:p>
        </p:txBody>
      </p:sp>
      <p:pic>
        <p:nvPicPr>
          <p:cNvPr id="6" name="Image 5" descr="Une image contenant chaise, meubles, intérieur, habits&#10;&#10;Le contenu généré par l’IA peut être incorrect.">
            <a:extLst>
              <a:ext uri="{FF2B5EF4-FFF2-40B4-BE49-F238E27FC236}">
                <a16:creationId xmlns:a16="http://schemas.microsoft.com/office/drawing/2014/main" id="{DCAEDD90-8059-5EDD-0AF0-50D5535173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9511" y="1436577"/>
            <a:ext cx="3095759" cy="3095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6323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09E8DAC-AC06-38FB-4FEA-346EC02EBE0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10</a:t>
            </a:fld>
            <a:endParaRPr lang="fr-FR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A6C31D28-ED35-E496-206C-1FA3A0AF49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Anticiper les questions 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604617C-0207-3087-A001-B34AD343AB3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dirty="0"/>
              <a:t>Avec une annonce de la séance de questions</a:t>
            </a:r>
          </a:p>
          <a:p>
            <a:r>
              <a:rPr lang="fr-FR" dirty="0"/>
              <a:t>Être déjà prêt à répondre avant la présentation</a:t>
            </a:r>
          </a:p>
          <a:p>
            <a:r>
              <a:rPr lang="fr-FR" dirty="0"/>
              <a:t>Invitez l’audience à participer </a:t>
            </a:r>
          </a:p>
        </p:txBody>
      </p:sp>
      <p:pic>
        <p:nvPicPr>
          <p:cNvPr id="6" name="Image 5" descr="Une image contenant habits, homme, chaussures, personne&#10;&#10;Le contenu généré par l’IA peut être incorrect.">
            <a:extLst>
              <a:ext uri="{FF2B5EF4-FFF2-40B4-BE49-F238E27FC236}">
                <a16:creationId xmlns:a16="http://schemas.microsoft.com/office/drawing/2014/main" id="{8255D0CD-CFB3-1398-FFC1-6E827B950A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3956" y="2287610"/>
            <a:ext cx="2181359" cy="2181359"/>
          </a:xfrm>
          <a:prstGeom prst="rect">
            <a:avLst/>
          </a:prstGeom>
        </p:spPr>
      </p:pic>
      <p:pic>
        <p:nvPicPr>
          <p:cNvPr id="8" name="Image 7" descr="Une image contenant habits, chaussures, personne, costume&#10;&#10;Le contenu généré par l’IA peut être incorrect.">
            <a:extLst>
              <a:ext uri="{FF2B5EF4-FFF2-40B4-BE49-F238E27FC236}">
                <a16:creationId xmlns:a16="http://schemas.microsoft.com/office/drawing/2014/main" id="{394AB359-ECA6-35AA-DEDA-FA3EC7B4DD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6620" y="1043189"/>
            <a:ext cx="3425780" cy="3425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7232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43B54EE6-E907-D852-A1CE-44EFF0F2061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11</a:t>
            </a:fld>
            <a:endParaRPr lang="fr-FR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E852A0DE-759A-4EF8-9C8B-1E18EE7163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Tester plusieurs fois sa présentation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08D24DC-82F1-FEFE-94AF-37AB140ABA5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dirty="0"/>
              <a:t>Relire le texte </a:t>
            </a:r>
          </a:p>
          <a:p>
            <a:r>
              <a:rPr lang="fr-FR" dirty="0"/>
              <a:t>Tester les éléments</a:t>
            </a:r>
          </a:p>
          <a:p>
            <a:r>
              <a:rPr lang="fr-FR" dirty="0"/>
              <a:t>Simulez la présentation</a:t>
            </a:r>
          </a:p>
        </p:txBody>
      </p:sp>
    </p:spTree>
    <p:extLst>
      <p:ext uri="{BB962C8B-B14F-4D97-AF65-F5344CB8AC3E}">
        <p14:creationId xmlns:p14="http://schemas.microsoft.com/office/powerpoint/2010/main" val="38760390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42BD50ED-C664-54C7-6FF8-58B84C0A665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12</a:t>
            </a:fld>
            <a:endParaRPr lang="fr-FR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C7E16B04-291A-C4CE-368D-7906F09C46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Conclusion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04B926A-668E-3FAA-DA91-ABCC6B0936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dirty="0"/>
              <a:t>Récapitulation</a:t>
            </a:r>
          </a:p>
          <a:p>
            <a:r>
              <a:rPr lang="fr-FR" dirty="0"/>
              <a:t>Remerciements</a:t>
            </a:r>
          </a:p>
          <a:p>
            <a:r>
              <a:rPr lang="fr-FR" dirty="0"/>
              <a:t>Appel à l’action</a:t>
            </a:r>
          </a:p>
        </p:txBody>
      </p:sp>
    </p:spTree>
    <p:extLst>
      <p:ext uri="{BB962C8B-B14F-4D97-AF65-F5344CB8AC3E}">
        <p14:creationId xmlns:p14="http://schemas.microsoft.com/office/powerpoint/2010/main" val="1713402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</TotalTime>
  <Words>414</Words>
  <Application>Microsoft Office PowerPoint</Application>
  <PresentationFormat>Affichage à l'écran (16:9)</PresentationFormat>
  <Paragraphs>99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7" baseType="lpstr">
      <vt:lpstr>Lato</vt:lpstr>
      <vt:lpstr>Wingdings</vt:lpstr>
      <vt:lpstr>Raleway</vt:lpstr>
      <vt:lpstr>Arial</vt:lpstr>
      <vt:lpstr>Streamline</vt:lpstr>
      <vt:lpstr>E-Book Comment faire une bonne présentation PowerPoint</vt:lpstr>
      <vt:lpstr>🎯 - Objectifs</vt:lpstr>
      <vt:lpstr>Connaitre son public </vt:lpstr>
      <vt:lpstr>Avoir un contenu simple</vt:lpstr>
      <vt:lpstr>Ayez un design attrayant </vt:lpstr>
      <vt:lpstr>Utilisez des vidéos et images</vt:lpstr>
      <vt:lpstr>Utilisez l’animation correctement</vt:lpstr>
      <vt:lpstr>Utilisation des graphiques et tableaux</vt:lpstr>
      <vt:lpstr>Organiser son discours </vt:lpstr>
      <vt:lpstr>Anticiper les questions </vt:lpstr>
      <vt:lpstr>Tester plusieurs fois sa présentation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Jules Didry</dc:creator>
  <cp:lastModifiedBy>Jules Didry</cp:lastModifiedBy>
  <cp:revision>12</cp:revision>
  <dcterms:modified xsi:type="dcterms:W3CDTF">2025-03-20T18:43:57Z</dcterms:modified>
</cp:coreProperties>
</file>